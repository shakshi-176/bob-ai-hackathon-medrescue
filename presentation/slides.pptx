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E3460"/>
          </a:solidFill>
          <a:ln/>
        </p:spPr>
      </p:sp>
      <p:sp>
        <p:nvSpPr>
          <p:cNvPr id="3" name="Shape 1"/>
          <p:cNvSpPr/>
          <p:nvPr/>
        </p:nvSpPr>
        <p:spPr>
          <a:xfrm>
            <a:off x="10607040" y="4754880"/>
            <a:ext cx="2926080" cy="2926080"/>
          </a:xfrm>
          <a:prstGeom prst="ellipse">
            <a:avLst/>
          </a:prstGeom>
          <a:solidFill>
            <a:srgbClr val="0E3460"/>
          </a:solidFill>
          <a:ln/>
        </p:spPr>
      </p:sp>
      <p:sp>
        <p:nvSpPr>
          <p:cNvPr id="4" name="Text 2"/>
          <p:cNvSpPr txBox="1"/>
          <p:nvPr/>
        </p:nvSpPr>
        <p:spPr>
          <a:xfrm>
            <a:off x="822960" y="1371600"/>
            <a:ext cx="1097280" cy="1097280"/>
          </a:xfrm>
          <a:prstGeom prst="rect">
            <a:avLst/>
          </a:prstGeom>
          <a:noFill/>
          <a:ln/>
        </p:spPr>
        <p:txBody>
          <a:bodyPr wrap="square" rtlCol="0" anchor="ctr"/>
          <a:lstStyle/>
          <a:p>
            <a:pPr indent="0" marL="0">
              <a:buNone/>
            </a:pPr>
            <a:r>
              <a:rPr lang="en-US" sz="5400" dirty="0">
                <a:solidFill>
                  <a:srgbClr val="14B8A6"/>
                </a:solidFill>
              </a:rPr>
              <a:t>⚕</a:t>
            </a:r>
            <a:endParaRPr lang="en-US" sz="5400" dirty="0"/>
          </a:p>
        </p:txBody>
      </p:sp>
      <p:sp>
        <p:nvSpPr>
          <p:cNvPr id="5" name="Text 3"/>
          <p:cNvSpPr txBox="1"/>
          <p:nvPr/>
        </p:nvSpPr>
        <p:spPr>
          <a:xfrm>
            <a:off x="777240" y="2148840"/>
            <a:ext cx="91440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MedRescue </a:t>
            </a:r>
            <a:pPr indent="0" marL="0">
              <a:buNone/>
            </a:pPr>
            <a:r>
              <a:rPr lang="en-US" sz="5400" b="1" dirty="0">
                <a:solidFill>
                  <a:srgbClr val="14B8A6"/>
                </a:solidFill>
                <a:latin typeface="Cambria" pitchFamily="34" charset="0"/>
                <a:ea typeface="Cambria" pitchFamily="34" charset="-122"/>
                <a:cs typeface="Cambria" pitchFamily="34" charset="-120"/>
              </a:rPr>
              <a:t>AI</a:t>
            </a:r>
            <a:endParaRPr lang="en-US" sz="5400" dirty="0"/>
          </a:p>
        </p:txBody>
      </p:sp>
      <p:sp>
        <p:nvSpPr>
          <p:cNvPr id="6" name="Text 4"/>
          <p:cNvSpPr txBox="1"/>
          <p:nvPr/>
        </p:nvSpPr>
        <p:spPr>
          <a:xfrm>
            <a:off x="822960" y="3154680"/>
            <a:ext cx="8686800" cy="548640"/>
          </a:xfrm>
          <a:prstGeom prst="rect">
            <a:avLst/>
          </a:prstGeom>
          <a:noFill/>
          <a:ln/>
        </p:spPr>
        <p:txBody>
          <a:bodyPr wrap="square" rtlCol="0" anchor="ctr"/>
          <a:lstStyle/>
          <a:p>
            <a:pPr indent="0" marL="0">
              <a:buNone/>
            </a:pPr>
            <a:r>
              <a:rPr lang="en-US" sz="1800" i="1" dirty="0">
                <a:solidFill>
                  <a:srgbClr val="CBD5E1"/>
                </a:solidFill>
                <a:latin typeface="Calibri" pitchFamily="34" charset="0"/>
                <a:ea typeface="Calibri" pitchFamily="34" charset="-122"/>
                <a:cs typeface="Calibri" pitchFamily="34" charset="-120"/>
              </a:rPr>
              <a:t>Predicting medicine expiry. Matching real need. Preventing waste before it happens.</a:t>
            </a:r>
            <a:endParaRPr lang="en-US" sz="1800" dirty="0"/>
          </a:p>
        </p:txBody>
      </p:sp>
      <p:sp>
        <p:nvSpPr>
          <p:cNvPr id="7" name="Shape 5"/>
          <p:cNvSpPr/>
          <p:nvPr/>
        </p:nvSpPr>
        <p:spPr>
          <a:xfrm>
            <a:off x="822960" y="3886200"/>
            <a:ext cx="2011680" cy="0"/>
          </a:xfrm>
          <a:prstGeom prst="line">
            <a:avLst/>
          </a:prstGeom>
          <a:noFill/>
          <a:ln w="38100">
            <a:solidFill>
              <a:srgbClr val="0D9488"/>
            </a:solidFill>
            <a:prstDash val="solid"/>
          </a:ln>
        </p:spPr>
      </p:sp>
      <p:sp>
        <p:nvSpPr>
          <p:cNvPr id="8" name="Text 6"/>
          <p:cNvSpPr txBox="1"/>
          <p:nvPr/>
        </p:nvSpPr>
        <p:spPr>
          <a:xfrm>
            <a:off x="822960" y="4160520"/>
            <a:ext cx="8686800" cy="822960"/>
          </a:xfrm>
          <a:prstGeom prst="rect">
            <a:avLst/>
          </a:prstGeom>
          <a:noFill/>
          <a:ln/>
        </p:spPr>
        <p:txBody>
          <a:bodyPr wrap="square" rtlCol="0" anchor="ctr"/>
          <a:lstStyle/>
          <a:p>
            <a:pPr indent="0" marL="0">
              <a:lnSpc>
                <a:spcPct val="130000"/>
              </a:lnSpc>
              <a:buNone/>
            </a:pPr>
            <a:r>
              <a:rPr lang="en-US" sz="1500" dirty="0">
                <a:solidFill>
                  <a:srgbClr val="94A3B8"/>
                </a:solidFill>
                <a:latin typeface="Calibri" pitchFamily="34" charset="0"/>
                <a:ea typeface="Calibri" pitchFamily="34" charset="-122"/>
                <a:cs typeface="Calibri" pitchFamily="34" charset="-120"/>
              </a:rPr>
              <a:t>IBM Bob AI Innovation Hackathon  |  Team MedRescue
</a:t>
            </a:r>
            <a:pPr indent="0" marL="0">
              <a:lnSpc>
                <a:spcPct val="130000"/>
              </a:lnSpc>
              <a:buNone/>
            </a:pPr>
            <a:r>
              <a:rPr lang="en-US" sz="1300" dirty="0">
                <a:solidFill>
                  <a:srgbClr val="64748B"/>
                </a:solidFill>
                <a:latin typeface="Calibri" pitchFamily="34" charset="0"/>
                <a:ea typeface="Calibri" pitchFamily="34" charset="-122"/>
                <a:cs typeface="Calibri" pitchFamily="34" charset="-120"/>
              </a:rPr>
              <a:t>Sakshi Parmar (Lead)  •  Rajvi Khunt  •  Ayushi Raval  •  Hir Ramani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Medicine expires unused while nearby facilities run short</a:t>
            </a:r>
            <a:endParaRPr lang="en-US" sz="3200" dirty="0"/>
          </a:p>
        </p:txBody>
      </p:sp>
      <p:sp>
        <p:nvSpPr>
          <p:cNvPr id="4" name="Shape 2"/>
          <p:cNvSpPr/>
          <p:nvPr/>
        </p:nvSpPr>
        <p:spPr>
          <a:xfrm>
            <a:off x="640080" y="1965960"/>
            <a:ext cx="3429000" cy="2148840"/>
          </a:xfrm>
          <a:prstGeom prst="roundRect">
            <a:avLst>
              <a:gd name="adj" fmla="val 5106"/>
            </a:avLst>
          </a:prstGeom>
          <a:solidFill>
            <a:srgbClr val="F8FAFC"/>
          </a:solidFill>
          <a:ln w="12700">
            <a:solidFill>
              <a:srgbClr val="E2E8F0"/>
            </a:solidFill>
            <a:prstDash val="solid"/>
          </a:ln>
        </p:spPr>
      </p:sp>
      <p:sp>
        <p:nvSpPr>
          <p:cNvPr id="5" name="Text 3"/>
          <p:cNvSpPr txBox="1"/>
          <p:nvPr/>
        </p:nvSpPr>
        <p:spPr>
          <a:xfrm>
            <a:off x="640080" y="2194560"/>
            <a:ext cx="3429000" cy="822960"/>
          </a:xfrm>
          <a:prstGeom prst="rect">
            <a:avLst/>
          </a:prstGeom>
          <a:noFill/>
          <a:ln/>
        </p:spPr>
        <p:txBody>
          <a:bodyPr wrap="square" rtlCol="0" anchor="ctr"/>
          <a:lstStyle/>
          <a:p>
            <a:pPr algn="ctr" indent="0" marL="0">
              <a:buNone/>
            </a:pPr>
            <a:r>
              <a:rPr lang="en-US" sz="4000" b="1" dirty="0">
                <a:solidFill>
                  <a:srgbClr val="DC2626"/>
                </a:solidFill>
                <a:latin typeface="Cambria" pitchFamily="34" charset="0"/>
                <a:ea typeface="Cambria" pitchFamily="34" charset="-122"/>
                <a:cs typeface="Cambria" pitchFamily="34" charset="-120"/>
              </a:rPr>
              <a:t>20-40%</a:t>
            </a:r>
            <a:endParaRPr lang="en-US" sz="4000" dirty="0"/>
          </a:p>
        </p:txBody>
      </p:sp>
      <p:sp>
        <p:nvSpPr>
          <p:cNvPr id="6" name="Text 4"/>
          <p:cNvSpPr txBox="1"/>
          <p:nvPr/>
        </p:nvSpPr>
        <p:spPr>
          <a:xfrm>
            <a:off x="914400" y="3063240"/>
            <a:ext cx="2880360" cy="914400"/>
          </a:xfrm>
          <a:prstGeom prst="rect">
            <a:avLst/>
          </a:prstGeom>
          <a:noFill/>
          <a:ln/>
        </p:spPr>
        <p:txBody>
          <a:bodyPr wrap="square" rtlCol="0" anchor="ctr"/>
          <a:lstStyle/>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of hospital medicine waste comes from</a:t>
            </a:r>
            <a:endParaRPr lang="en-US" sz="1300" dirty="0"/>
          </a:p>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unused stock reaching expiry</a:t>
            </a:r>
            <a:endParaRPr lang="en-US" sz="1300" dirty="0"/>
          </a:p>
        </p:txBody>
      </p:sp>
      <p:sp>
        <p:nvSpPr>
          <p:cNvPr id="7" name="Shape 5"/>
          <p:cNvSpPr/>
          <p:nvPr/>
        </p:nvSpPr>
        <p:spPr>
          <a:xfrm>
            <a:off x="4343400" y="1965960"/>
            <a:ext cx="3429000" cy="2148840"/>
          </a:xfrm>
          <a:prstGeom prst="roundRect">
            <a:avLst>
              <a:gd name="adj" fmla="val 5106"/>
            </a:avLst>
          </a:prstGeom>
          <a:solidFill>
            <a:srgbClr val="F8FAFC"/>
          </a:solidFill>
          <a:ln w="12700">
            <a:solidFill>
              <a:srgbClr val="E2E8F0"/>
            </a:solidFill>
            <a:prstDash val="solid"/>
          </a:ln>
        </p:spPr>
      </p:sp>
      <p:sp>
        <p:nvSpPr>
          <p:cNvPr id="8" name="Text 6"/>
          <p:cNvSpPr txBox="1"/>
          <p:nvPr/>
        </p:nvSpPr>
        <p:spPr>
          <a:xfrm>
            <a:off x="4343400" y="2194560"/>
            <a:ext cx="3429000" cy="822960"/>
          </a:xfrm>
          <a:prstGeom prst="rect">
            <a:avLst/>
          </a:prstGeom>
          <a:noFill/>
          <a:ln/>
        </p:spPr>
        <p:txBody>
          <a:bodyPr wrap="square" rtlCol="0" anchor="ctr"/>
          <a:lstStyle/>
          <a:p>
            <a:pPr algn="ctr" indent="0" marL="0">
              <a:buNone/>
            </a:pPr>
            <a:r>
              <a:rPr lang="en-US" sz="4000" b="1" dirty="0">
                <a:solidFill>
                  <a:srgbClr val="EA580C"/>
                </a:solidFill>
                <a:latin typeface="Cambria" pitchFamily="34" charset="0"/>
                <a:ea typeface="Cambria" pitchFamily="34" charset="-122"/>
                <a:cs typeface="Cambria" pitchFamily="34" charset="-120"/>
              </a:rPr>
              <a:t>₹1000cr+</a:t>
            </a:r>
            <a:endParaRPr lang="en-US" sz="4000" dirty="0"/>
          </a:p>
        </p:txBody>
      </p:sp>
      <p:sp>
        <p:nvSpPr>
          <p:cNvPr id="9" name="Text 7"/>
          <p:cNvSpPr txBox="1"/>
          <p:nvPr/>
        </p:nvSpPr>
        <p:spPr>
          <a:xfrm>
            <a:off x="4617720" y="3063240"/>
            <a:ext cx="2880360" cy="914400"/>
          </a:xfrm>
          <a:prstGeom prst="rect">
            <a:avLst/>
          </a:prstGeom>
          <a:noFill/>
          <a:ln/>
        </p:spPr>
        <p:txBody>
          <a:bodyPr wrap="square" rtlCol="0" anchor="ctr"/>
          <a:lstStyle/>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estimated annual pharma wastage</a:t>
            </a:r>
            <a:endParaRPr lang="en-US" sz="1300" dirty="0"/>
          </a:p>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across Indian healthcare facilities</a:t>
            </a:r>
            <a:endParaRPr lang="en-US" sz="1300" dirty="0"/>
          </a:p>
        </p:txBody>
      </p:sp>
      <p:sp>
        <p:nvSpPr>
          <p:cNvPr id="10" name="Shape 8"/>
          <p:cNvSpPr/>
          <p:nvPr/>
        </p:nvSpPr>
        <p:spPr>
          <a:xfrm>
            <a:off x="8046720" y="1965960"/>
            <a:ext cx="3429000" cy="2148840"/>
          </a:xfrm>
          <a:prstGeom prst="roundRect">
            <a:avLst>
              <a:gd name="adj" fmla="val 5106"/>
            </a:avLst>
          </a:prstGeom>
          <a:solidFill>
            <a:srgbClr val="F8FAFC"/>
          </a:solidFill>
          <a:ln w="12700">
            <a:solidFill>
              <a:srgbClr val="E2E8F0"/>
            </a:solidFill>
            <a:prstDash val="solid"/>
          </a:ln>
        </p:spPr>
      </p:sp>
      <p:sp>
        <p:nvSpPr>
          <p:cNvPr id="11" name="Text 9"/>
          <p:cNvSpPr txBox="1"/>
          <p:nvPr/>
        </p:nvSpPr>
        <p:spPr>
          <a:xfrm>
            <a:off x="8046720" y="2194560"/>
            <a:ext cx="3429000" cy="822960"/>
          </a:xfrm>
          <a:prstGeom prst="rect">
            <a:avLst/>
          </a:prstGeom>
          <a:noFill/>
          <a:ln/>
        </p:spPr>
        <p:txBody>
          <a:bodyPr wrap="square" rtlCol="0" anchor="ctr"/>
          <a:lstStyle/>
          <a:p>
            <a:pPr algn="ctr" indent="0" marL="0">
              <a:buNone/>
            </a:pPr>
            <a:r>
              <a:rPr lang="en-US" sz="4000" b="1" dirty="0">
                <a:solidFill>
                  <a:srgbClr val="0A2540"/>
                </a:solidFill>
                <a:latin typeface="Cambria" pitchFamily="34" charset="0"/>
                <a:ea typeface="Cambria" pitchFamily="34" charset="-122"/>
                <a:cs typeface="Cambria" pitchFamily="34" charset="-120"/>
              </a:rPr>
              <a:t>Zero</a:t>
            </a:r>
            <a:endParaRPr lang="en-US" sz="4000" dirty="0"/>
          </a:p>
        </p:txBody>
      </p:sp>
      <p:sp>
        <p:nvSpPr>
          <p:cNvPr id="12" name="Text 10"/>
          <p:cNvSpPr txBox="1"/>
          <p:nvPr/>
        </p:nvSpPr>
        <p:spPr>
          <a:xfrm>
            <a:off x="8321040" y="3063240"/>
            <a:ext cx="2880360" cy="914400"/>
          </a:xfrm>
          <a:prstGeom prst="rect">
            <a:avLst/>
          </a:prstGeom>
          <a:noFill/>
          <a:ln/>
        </p:spPr>
        <p:txBody>
          <a:bodyPr wrap="square" rtlCol="0" anchor="ctr"/>
          <a:lstStyle/>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real-time visibility between nearby</a:t>
            </a:r>
            <a:endParaRPr lang="en-US" sz="1300" dirty="0"/>
          </a:p>
          <a:p>
            <a:pPr algn="ctr" indent="0" marL="0">
              <a:lnSpc>
                <a:spcPct val="120000"/>
              </a:lnSpc>
              <a:buNone/>
            </a:pPr>
            <a:r>
              <a:rPr lang="en-US" sz="1300" dirty="0">
                <a:solidFill>
                  <a:srgbClr val="64748B"/>
                </a:solidFill>
                <a:latin typeface="Calibri" pitchFamily="34" charset="0"/>
                <a:ea typeface="Calibri" pitchFamily="34" charset="-122"/>
                <a:cs typeface="Calibri" pitchFamily="34" charset="-120"/>
              </a:rPr>
              <a:t>pharmacies and hospitals today</a:t>
            </a:r>
            <a:endParaRPr lang="en-US" sz="1300" dirty="0"/>
          </a:p>
        </p:txBody>
      </p:sp>
      <p:sp>
        <p:nvSpPr>
          <p:cNvPr id="13" name="Shape 11"/>
          <p:cNvSpPr/>
          <p:nvPr/>
        </p:nvSpPr>
        <p:spPr>
          <a:xfrm>
            <a:off x="640080" y="4434840"/>
            <a:ext cx="10881360" cy="1417320"/>
          </a:xfrm>
          <a:prstGeom prst="roundRect">
            <a:avLst>
              <a:gd name="adj" fmla="val 6452"/>
            </a:avLst>
          </a:prstGeom>
          <a:solidFill>
            <a:srgbClr val="0A2540"/>
          </a:solidFill>
          <a:ln/>
        </p:spPr>
      </p:sp>
      <p:sp>
        <p:nvSpPr>
          <p:cNvPr id="14" name="Text 12"/>
          <p:cNvSpPr txBox="1"/>
          <p:nvPr/>
        </p:nvSpPr>
        <p:spPr>
          <a:xfrm>
            <a:off x="914400" y="4617720"/>
            <a:ext cx="10332720" cy="1097280"/>
          </a:xfrm>
          <a:prstGeom prst="rect">
            <a:avLst/>
          </a:prstGeom>
          <a:noFill/>
          <a:ln/>
        </p:spPr>
        <p:txBody>
          <a:bodyPr wrap="square" rtlCol="0" anchor="ctr"/>
          <a:lstStyle/>
          <a:p>
            <a:pPr indent="0" marL="0">
              <a:lnSpc>
                <a:spcPct val="135000"/>
              </a:lnSpc>
              <a:buNone/>
            </a:pPr>
            <a:r>
              <a:rPr lang="en-US" sz="1500" b="1" dirty="0">
                <a:solidFill>
                  <a:srgbClr val="14B8A6"/>
                </a:solidFill>
                <a:latin typeface="Calibri" pitchFamily="34" charset="0"/>
                <a:ea typeface="Calibri" pitchFamily="34" charset="-122"/>
                <a:cs typeface="Calibri" pitchFamily="34" charset="-120"/>
              </a:rPr>
              <a:t>Hospital A </a:t>
            </a:r>
            <a:pPr indent="0" marL="0">
              <a:lnSpc>
                <a:spcPct val="135000"/>
              </a:lnSpc>
              <a:buNone/>
            </a:pPr>
            <a:r>
              <a:rPr lang="en-US" sz="1500" dirty="0">
                <a:solidFill>
                  <a:srgbClr val="E2E8F0"/>
                </a:solidFill>
                <a:latin typeface="Calibri" pitchFamily="34" charset="0"/>
                <a:ea typeface="Calibri" pitchFamily="34" charset="-122"/>
                <a:cs typeface="Calibri" pitchFamily="34" charset="-120"/>
              </a:rPr>
              <a:t>has 150 units of Insulin expiring in 12 days it will never use.
</a:t>
            </a:r>
            <a:pPr indent="0" marL="0">
              <a:lnSpc>
                <a:spcPct val="135000"/>
              </a:lnSpc>
              <a:buNone/>
            </a:pPr>
            <a:r>
              <a:rPr lang="en-US" sz="1500" b="1" dirty="0">
                <a:solidFill>
                  <a:srgbClr val="14B8A6"/>
                </a:solidFill>
                <a:latin typeface="Calibri" pitchFamily="34" charset="0"/>
                <a:ea typeface="Calibri" pitchFamily="34" charset="-122"/>
                <a:cs typeface="Calibri" pitchFamily="34" charset="-120"/>
              </a:rPr>
              <a:t>Hospital B </a:t>
            </a:r>
            <a:pPr indent="0" marL="0">
              <a:lnSpc>
                <a:spcPct val="135000"/>
              </a:lnSpc>
              <a:buNone/>
            </a:pPr>
            <a:r>
              <a:rPr lang="en-US" sz="1500" dirty="0">
                <a:solidFill>
                  <a:srgbClr val="E2E8F0"/>
                </a:solidFill>
                <a:latin typeface="Calibri" pitchFamily="34" charset="0"/>
                <a:ea typeface="Calibri" pitchFamily="34" charset="-122"/>
                <a:cs typeface="Calibri" pitchFamily="34" charset="-120"/>
              </a:rPr>
              <a:t>is 4km away, actively short on Insulin, and has no way of knowing.</a:t>
            </a:r>
            <a:endParaRPr lang="en-US" sz="1500" dirty="0"/>
          </a:p>
        </p:txBody>
      </p:sp>
      <p:sp>
        <p:nvSpPr>
          <p:cNvPr id="15" name="Text 1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OUR SOLUTION</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One platform. Predict, match, and rescue expiring medicine.</a:t>
            </a:r>
            <a:endParaRPr lang="en-US" sz="3200" dirty="0"/>
          </a:p>
        </p:txBody>
      </p:sp>
      <p:sp>
        <p:nvSpPr>
          <p:cNvPr id="4" name="Text 2"/>
          <p:cNvSpPr txBox="1"/>
          <p:nvPr/>
        </p:nvSpPr>
        <p:spPr>
          <a:xfrm>
            <a:off x="640080" y="1691640"/>
            <a:ext cx="10607040" cy="914400"/>
          </a:xfrm>
          <a:prstGeom prst="rect">
            <a:avLst/>
          </a:prstGeom>
          <a:noFill/>
          <a:ln/>
        </p:spPr>
        <p:txBody>
          <a:bodyPr wrap="square" rtlCol="0" anchor="ctr"/>
          <a:lstStyle/>
          <a:p>
            <a:pPr indent="0" marL="0">
              <a:lnSpc>
                <a:spcPct val="130000"/>
              </a:lnSpc>
              <a:buNone/>
            </a:pPr>
            <a:r>
              <a:rPr lang="en-US" sz="1500" dirty="0">
                <a:solidFill>
                  <a:srgbClr val="1E293B"/>
                </a:solidFill>
                <a:latin typeface="Calibri" pitchFamily="34" charset="0"/>
                <a:ea typeface="Calibri" pitchFamily="34" charset="-122"/>
                <a:cs typeface="Calibri" pitchFamily="34" charset="-120"/>
              </a:rPr>
              <a:t>MedRescue AI lets hospitals and pharmacies register their own medicine stock, then continuously predicts which items are approaching expiry, finds another registered facility that actually needs that exact medicine, and recommends a transfer — before the stock is wasted and before the patient goes without.</a:t>
            </a:r>
            <a:endParaRPr lang="en-US" sz="1500" dirty="0"/>
          </a:p>
        </p:txBody>
      </p:sp>
      <p:sp>
        <p:nvSpPr>
          <p:cNvPr id="5" name="Shape 3"/>
          <p:cNvSpPr/>
          <p:nvPr/>
        </p:nvSpPr>
        <p:spPr>
          <a:xfrm>
            <a:off x="640080" y="2880360"/>
            <a:ext cx="1965960" cy="1234440"/>
          </a:xfrm>
          <a:prstGeom prst="roundRect">
            <a:avLst>
              <a:gd name="adj" fmla="val 7407"/>
            </a:avLst>
          </a:prstGeom>
          <a:solidFill>
            <a:srgbClr val="E6F7F5"/>
          </a:solidFill>
          <a:ln w="15875">
            <a:solidFill>
              <a:srgbClr val="0D9488"/>
            </a:solidFill>
            <a:prstDash val="solid"/>
          </a:ln>
        </p:spPr>
      </p:sp>
      <p:sp>
        <p:nvSpPr>
          <p:cNvPr id="6" name="Text 4"/>
          <p:cNvSpPr txBox="1"/>
          <p:nvPr/>
        </p:nvSpPr>
        <p:spPr>
          <a:xfrm>
            <a:off x="640080" y="2880360"/>
            <a:ext cx="1965960" cy="1234440"/>
          </a:xfrm>
          <a:prstGeom prst="rect">
            <a:avLst/>
          </a:prstGeom>
          <a:noFill/>
          <a:ln/>
        </p:spPr>
        <p:txBody>
          <a:bodyPr wrap="square" rtlCol="0" anchor="ctr"/>
          <a:lstStyle/>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Register</a:t>
            </a:r>
            <a:endParaRPr lang="en-US" sz="1350" dirty="0"/>
          </a:p>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Stock</a:t>
            </a:r>
            <a:endParaRPr lang="en-US" sz="1350" dirty="0"/>
          </a:p>
        </p:txBody>
      </p:sp>
      <p:sp>
        <p:nvSpPr>
          <p:cNvPr id="7" name="Text 5"/>
          <p:cNvSpPr txBox="1"/>
          <p:nvPr/>
        </p:nvSpPr>
        <p:spPr>
          <a:xfrm>
            <a:off x="2606040" y="2880360"/>
            <a:ext cx="256032" cy="12344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8" name="Shape 6"/>
          <p:cNvSpPr/>
          <p:nvPr/>
        </p:nvSpPr>
        <p:spPr>
          <a:xfrm>
            <a:off x="2862072" y="2880360"/>
            <a:ext cx="1965960" cy="1234440"/>
          </a:xfrm>
          <a:prstGeom prst="roundRect">
            <a:avLst>
              <a:gd name="adj" fmla="val 7407"/>
            </a:avLst>
          </a:prstGeom>
          <a:solidFill>
            <a:srgbClr val="E6F7F5"/>
          </a:solidFill>
          <a:ln w="15875">
            <a:solidFill>
              <a:srgbClr val="0D9488"/>
            </a:solidFill>
            <a:prstDash val="solid"/>
          </a:ln>
        </p:spPr>
      </p:sp>
      <p:sp>
        <p:nvSpPr>
          <p:cNvPr id="9" name="Text 7"/>
          <p:cNvSpPr txBox="1"/>
          <p:nvPr/>
        </p:nvSpPr>
        <p:spPr>
          <a:xfrm>
            <a:off x="2862072" y="2880360"/>
            <a:ext cx="1965960" cy="1234440"/>
          </a:xfrm>
          <a:prstGeom prst="rect">
            <a:avLst/>
          </a:prstGeom>
          <a:noFill/>
          <a:ln/>
        </p:spPr>
        <p:txBody>
          <a:bodyPr wrap="square" rtlCol="0" anchor="ctr"/>
          <a:lstStyle/>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Predict</a:t>
            </a:r>
            <a:endParaRPr lang="en-US" sz="1350" dirty="0"/>
          </a:p>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Expiry Risk</a:t>
            </a:r>
            <a:endParaRPr lang="en-US" sz="1350" dirty="0"/>
          </a:p>
        </p:txBody>
      </p:sp>
      <p:sp>
        <p:nvSpPr>
          <p:cNvPr id="10" name="Text 8"/>
          <p:cNvSpPr txBox="1"/>
          <p:nvPr/>
        </p:nvSpPr>
        <p:spPr>
          <a:xfrm>
            <a:off x="4828032" y="2880360"/>
            <a:ext cx="256032" cy="12344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1" name="Shape 9"/>
          <p:cNvSpPr/>
          <p:nvPr/>
        </p:nvSpPr>
        <p:spPr>
          <a:xfrm>
            <a:off x="5084064" y="2880360"/>
            <a:ext cx="1965960" cy="1234440"/>
          </a:xfrm>
          <a:prstGeom prst="roundRect">
            <a:avLst>
              <a:gd name="adj" fmla="val 7407"/>
            </a:avLst>
          </a:prstGeom>
          <a:solidFill>
            <a:srgbClr val="E6F7F5"/>
          </a:solidFill>
          <a:ln w="15875">
            <a:solidFill>
              <a:srgbClr val="0D9488"/>
            </a:solidFill>
            <a:prstDash val="solid"/>
          </a:ln>
        </p:spPr>
      </p:sp>
      <p:sp>
        <p:nvSpPr>
          <p:cNvPr id="12" name="Text 10"/>
          <p:cNvSpPr txBox="1"/>
          <p:nvPr/>
        </p:nvSpPr>
        <p:spPr>
          <a:xfrm>
            <a:off x="5084064" y="2880360"/>
            <a:ext cx="1965960" cy="1234440"/>
          </a:xfrm>
          <a:prstGeom prst="rect">
            <a:avLst/>
          </a:prstGeom>
          <a:noFill/>
          <a:ln/>
        </p:spPr>
        <p:txBody>
          <a:bodyPr wrap="square" rtlCol="0" anchor="ctr"/>
          <a:lstStyle/>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AI-Ranked</a:t>
            </a:r>
            <a:endParaRPr lang="en-US" sz="1350" dirty="0"/>
          </a:p>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Matching</a:t>
            </a:r>
            <a:endParaRPr lang="en-US" sz="1350" dirty="0"/>
          </a:p>
        </p:txBody>
      </p:sp>
      <p:sp>
        <p:nvSpPr>
          <p:cNvPr id="13" name="Text 11"/>
          <p:cNvSpPr txBox="1"/>
          <p:nvPr/>
        </p:nvSpPr>
        <p:spPr>
          <a:xfrm>
            <a:off x="7050024" y="2880360"/>
            <a:ext cx="256032" cy="12344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4" name="Shape 12"/>
          <p:cNvSpPr/>
          <p:nvPr/>
        </p:nvSpPr>
        <p:spPr>
          <a:xfrm>
            <a:off x="7306056" y="2880360"/>
            <a:ext cx="1965960" cy="1234440"/>
          </a:xfrm>
          <a:prstGeom prst="roundRect">
            <a:avLst>
              <a:gd name="adj" fmla="val 7407"/>
            </a:avLst>
          </a:prstGeom>
          <a:solidFill>
            <a:srgbClr val="E6F7F5"/>
          </a:solidFill>
          <a:ln w="15875">
            <a:solidFill>
              <a:srgbClr val="0D9488"/>
            </a:solidFill>
            <a:prstDash val="solid"/>
          </a:ln>
        </p:spPr>
      </p:sp>
      <p:sp>
        <p:nvSpPr>
          <p:cNvPr id="15" name="Text 13"/>
          <p:cNvSpPr txBox="1"/>
          <p:nvPr/>
        </p:nvSpPr>
        <p:spPr>
          <a:xfrm>
            <a:off x="7306056" y="2880360"/>
            <a:ext cx="1965960" cy="1234440"/>
          </a:xfrm>
          <a:prstGeom prst="rect">
            <a:avLst/>
          </a:prstGeom>
          <a:noFill/>
          <a:ln/>
        </p:spPr>
        <p:txBody>
          <a:bodyPr wrap="square" rtlCol="0" anchor="ctr"/>
          <a:lstStyle/>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Human</a:t>
            </a:r>
            <a:endParaRPr lang="en-US" sz="1350" dirty="0"/>
          </a:p>
          <a:p>
            <a:pPr algn="ctr" indent="0" marL="0">
              <a:lnSpc>
                <a:spcPct val="110000"/>
              </a:lnSpc>
              <a:buNone/>
            </a:pPr>
            <a:r>
              <a:rPr lang="en-US" sz="1350" b="1" dirty="0">
                <a:solidFill>
                  <a:srgbClr val="0A2540"/>
                </a:solidFill>
                <a:latin typeface="Calibri" pitchFamily="34" charset="0"/>
                <a:ea typeface="Calibri" pitchFamily="34" charset="-122"/>
                <a:cs typeface="Calibri" pitchFamily="34" charset="-120"/>
              </a:rPr>
              <a:t>Approval</a:t>
            </a:r>
            <a:endParaRPr lang="en-US" sz="1350" dirty="0"/>
          </a:p>
        </p:txBody>
      </p:sp>
      <p:sp>
        <p:nvSpPr>
          <p:cNvPr id="16" name="Text 14"/>
          <p:cNvSpPr txBox="1"/>
          <p:nvPr/>
        </p:nvSpPr>
        <p:spPr>
          <a:xfrm>
            <a:off x="9272016" y="2880360"/>
            <a:ext cx="256032" cy="12344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7" name="Shape 15"/>
          <p:cNvSpPr/>
          <p:nvPr/>
        </p:nvSpPr>
        <p:spPr>
          <a:xfrm>
            <a:off x="9528048" y="2880360"/>
            <a:ext cx="1965960" cy="1234440"/>
          </a:xfrm>
          <a:prstGeom prst="roundRect">
            <a:avLst>
              <a:gd name="adj" fmla="val 7407"/>
            </a:avLst>
          </a:prstGeom>
          <a:solidFill>
            <a:srgbClr val="0D9488"/>
          </a:solidFill>
          <a:ln w="15875">
            <a:solidFill>
              <a:srgbClr val="0D9488"/>
            </a:solidFill>
            <a:prstDash val="solid"/>
          </a:ln>
        </p:spPr>
      </p:sp>
      <p:sp>
        <p:nvSpPr>
          <p:cNvPr id="18" name="Text 16"/>
          <p:cNvSpPr txBox="1"/>
          <p:nvPr/>
        </p:nvSpPr>
        <p:spPr>
          <a:xfrm>
            <a:off x="9528048" y="2880360"/>
            <a:ext cx="1965960" cy="1234440"/>
          </a:xfrm>
          <a:prstGeom prst="rect">
            <a:avLst/>
          </a:prstGeom>
          <a:noFill/>
          <a:ln/>
        </p:spPr>
        <p:txBody>
          <a:bodyPr wrap="square" rtlCol="0" anchor="ctr"/>
          <a:lstStyle/>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Waste</a:t>
            </a:r>
            <a:endParaRPr lang="en-US" sz="1350" dirty="0"/>
          </a:p>
          <a:p>
            <a:pPr algn="ctr" indent="0" marL="0">
              <a:lnSpc>
                <a:spcPct val="110000"/>
              </a:lnSpc>
              <a:buNone/>
            </a:pPr>
            <a:r>
              <a:rPr lang="en-US" sz="1350" b="1" dirty="0">
                <a:solidFill>
                  <a:srgbClr val="FFFFFF"/>
                </a:solidFill>
                <a:latin typeface="Calibri" pitchFamily="34" charset="0"/>
                <a:ea typeface="Calibri" pitchFamily="34" charset="-122"/>
                <a:cs typeface="Calibri" pitchFamily="34" charset="-120"/>
              </a:rPr>
              <a:t>Prevented</a:t>
            </a:r>
            <a:endParaRPr lang="en-US" sz="1350" dirty="0"/>
          </a:p>
        </p:txBody>
      </p:sp>
      <p:sp>
        <p:nvSpPr>
          <p:cNvPr id="19" name="Text 17"/>
          <p:cNvSpPr txBox="1"/>
          <p:nvPr/>
        </p:nvSpPr>
        <p:spPr>
          <a:xfrm>
            <a:off x="640080" y="4572000"/>
            <a:ext cx="10607040" cy="54864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Deterministic rules and required human approval keep every physical transfer under authorized control — the AI recommends, it never decides alone.</a:t>
            </a:r>
            <a:endParaRPr lang="en-US" sz="1250" dirty="0"/>
          </a:p>
        </p:txBody>
      </p:sp>
      <p:sp>
        <p:nvSpPr>
          <p:cNvPr id="20"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KEY FEATURES</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Built for how hospitals and pharmacies actually work</a:t>
            </a:r>
            <a:endParaRPr lang="en-US" sz="3200" dirty="0"/>
          </a:p>
        </p:txBody>
      </p:sp>
      <p:sp>
        <p:nvSpPr>
          <p:cNvPr id="4" name="Shape 2"/>
          <p:cNvSpPr/>
          <p:nvPr/>
        </p:nvSpPr>
        <p:spPr>
          <a:xfrm>
            <a:off x="548640" y="1737360"/>
            <a:ext cx="3493008" cy="1783080"/>
          </a:xfrm>
          <a:prstGeom prst="roundRect">
            <a:avLst>
              <a:gd name="adj" fmla="val 5128"/>
            </a:avLst>
          </a:prstGeom>
          <a:solidFill>
            <a:srgbClr val="F8FAFC"/>
          </a:solidFill>
          <a:ln w="12700">
            <a:solidFill>
              <a:srgbClr val="E2E8F0"/>
            </a:solidFill>
            <a:prstDash val="solid"/>
          </a:ln>
        </p:spPr>
      </p:sp>
      <p:sp>
        <p:nvSpPr>
          <p:cNvPr id="5" name="Shape 3"/>
          <p:cNvSpPr/>
          <p:nvPr/>
        </p:nvSpPr>
        <p:spPr>
          <a:xfrm>
            <a:off x="777240" y="1965960"/>
            <a:ext cx="548640" cy="548640"/>
          </a:xfrm>
          <a:prstGeom prst="ellipse">
            <a:avLst/>
          </a:prstGeom>
          <a:solidFill>
            <a:srgbClr val="E6F7F5"/>
          </a:solidFill>
          <a:ln/>
        </p:spPr>
      </p:sp>
      <p:sp>
        <p:nvSpPr>
          <p:cNvPr id="6" name="Text 4"/>
          <p:cNvSpPr txBox="1"/>
          <p:nvPr/>
        </p:nvSpPr>
        <p:spPr>
          <a:xfrm>
            <a:off x="777240" y="196596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5"/>
          <p:cNvSpPr txBox="1"/>
          <p:nvPr/>
        </p:nvSpPr>
        <p:spPr>
          <a:xfrm>
            <a:off x="777240" y="260604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Role-Based Login</a:t>
            </a:r>
            <a:endParaRPr lang="en-US" sz="1400" dirty="0"/>
          </a:p>
        </p:txBody>
      </p:sp>
      <p:sp>
        <p:nvSpPr>
          <p:cNvPr id="8" name="Text 6"/>
          <p:cNvSpPr txBox="1"/>
          <p:nvPr/>
        </p:nvSpPr>
        <p:spPr>
          <a:xfrm>
            <a:off x="777240" y="290779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Separate Hospital and Pharmacy accounts, each with its own dashboard and stock.</a:t>
            </a:r>
            <a:endParaRPr lang="en-US" sz="1100" dirty="0"/>
          </a:p>
        </p:txBody>
      </p:sp>
      <p:sp>
        <p:nvSpPr>
          <p:cNvPr id="9" name="Shape 7"/>
          <p:cNvSpPr/>
          <p:nvPr/>
        </p:nvSpPr>
        <p:spPr>
          <a:xfrm>
            <a:off x="4242816" y="1737360"/>
            <a:ext cx="3493008" cy="1783080"/>
          </a:xfrm>
          <a:prstGeom prst="roundRect">
            <a:avLst>
              <a:gd name="adj" fmla="val 5128"/>
            </a:avLst>
          </a:prstGeom>
          <a:solidFill>
            <a:srgbClr val="F8FAFC"/>
          </a:solidFill>
          <a:ln w="12700">
            <a:solidFill>
              <a:srgbClr val="E2E8F0"/>
            </a:solidFill>
            <a:prstDash val="solid"/>
          </a:ln>
        </p:spPr>
      </p:sp>
      <p:sp>
        <p:nvSpPr>
          <p:cNvPr id="10" name="Shape 8"/>
          <p:cNvSpPr/>
          <p:nvPr/>
        </p:nvSpPr>
        <p:spPr>
          <a:xfrm>
            <a:off x="4471416" y="1965960"/>
            <a:ext cx="548640" cy="548640"/>
          </a:xfrm>
          <a:prstGeom prst="ellipse">
            <a:avLst/>
          </a:prstGeom>
          <a:solidFill>
            <a:srgbClr val="E6F7F5"/>
          </a:solidFill>
          <a:ln/>
        </p:spPr>
      </p:sp>
      <p:sp>
        <p:nvSpPr>
          <p:cNvPr id="11" name="Text 9"/>
          <p:cNvSpPr txBox="1"/>
          <p:nvPr/>
        </p:nvSpPr>
        <p:spPr>
          <a:xfrm>
            <a:off x="4471416" y="196596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txBox="1"/>
          <p:nvPr/>
        </p:nvSpPr>
        <p:spPr>
          <a:xfrm>
            <a:off x="4471416" y="260604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Type-Aware Urgency</a:t>
            </a:r>
            <a:endParaRPr lang="en-US" sz="1400" dirty="0"/>
          </a:p>
        </p:txBody>
      </p:sp>
      <p:sp>
        <p:nvSpPr>
          <p:cNvPr id="13" name="Text 11"/>
          <p:cNvSpPr txBox="1"/>
          <p:nvPr/>
        </p:nvSpPr>
        <p:spPr>
          <a:xfrm>
            <a:off x="4471416" y="290779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Injectables are flagged sooner than tablets or capsules — urgency matches real shelf-life risk.</a:t>
            </a:r>
            <a:endParaRPr lang="en-US" sz="1100" dirty="0"/>
          </a:p>
        </p:txBody>
      </p:sp>
      <p:sp>
        <p:nvSpPr>
          <p:cNvPr id="14" name="Shape 12"/>
          <p:cNvSpPr/>
          <p:nvPr/>
        </p:nvSpPr>
        <p:spPr>
          <a:xfrm>
            <a:off x="7936992" y="1737360"/>
            <a:ext cx="3493008" cy="1783080"/>
          </a:xfrm>
          <a:prstGeom prst="roundRect">
            <a:avLst>
              <a:gd name="adj" fmla="val 5128"/>
            </a:avLst>
          </a:prstGeom>
          <a:solidFill>
            <a:srgbClr val="F8FAFC"/>
          </a:solidFill>
          <a:ln w="12700">
            <a:solidFill>
              <a:srgbClr val="E2E8F0"/>
            </a:solidFill>
            <a:prstDash val="solid"/>
          </a:ln>
        </p:spPr>
      </p:sp>
      <p:sp>
        <p:nvSpPr>
          <p:cNvPr id="15" name="Shape 13"/>
          <p:cNvSpPr/>
          <p:nvPr/>
        </p:nvSpPr>
        <p:spPr>
          <a:xfrm>
            <a:off x="8165592" y="1965960"/>
            <a:ext cx="548640" cy="548640"/>
          </a:xfrm>
          <a:prstGeom prst="ellipse">
            <a:avLst/>
          </a:prstGeom>
          <a:solidFill>
            <a:srgbClr val="E6F7F5"/>
          </a:solidFill>
          <a:ln/>
        </p:spPr>
      </p:sp>
      <p:sp>
        <p:nvSpPr>
          <p:cNvPr id="16" name="Text 14"/>
          <p:cNvSpPr txBox="1"/>
          <p:nvPr/>
        </p:nvSpPr>
        <p:spPr>
          <a:xfrm>
            <a:off x="8165592" y="196596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txBox="1"/>
          <p:nvPr/>
        </p:nvSpPr>
        <p:spPr>
          <a:xfrm>
            <a:off x="8165592" y="260604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AI-Ranked Matching</a:t>
            </a:r>
            <a:endParaRPr lang="en-US" sz="1400" dirty="0"/>
          </a:p>
        </p:txBody>
      </p:sp>
      <p:sp>
        <p:nvSpPr>
          <p:cNvPr id="18" name="Text 16"/>
          <p:cNvSpPr txBox="1"/>
          <p:nvPr/>
        </p:nvSpPr>
        <p:spPr>
          <a:xfrm>
            <a:off x="8165592" y="290779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Ranks candidate facilities by need, quantity fit, proximity, and urgency — not a simple list.</a:t>
            </a:r>
            <a:endParaRPr lang="en-US" sz="1100" dirty="0"/>
          </a:p>
        </p:txBody>
      </p:sp>
      <p:sp>
        <p:nvSpPr>
          <p:cNvPr id="19" name="Shape 17"/>
          <p:cNvSpPr/>
          <p:nvPr/>
        </p:nvSpPr>
        <p:spPr>
          <a:xfrm>
            <a:off x="548640" y="3749040"/>
            <a:ext cx="3493008" cy="1783080"/>
          </a:xfrm>
          <a:prstGeom prst="roundRect">
            <a:avLst>
              <a:gd name="adj" fmla="val 5128"/>
            </a:avLst>
          </a:prstGeom>
          <a:solidFill>
            <a:srgbClr val="F8FAFC"/>
          </a:solidFill>
          <a:ln w="12700">
            <a:solidFill>
              <a:srgbClr val="E2E8F0"/>
            </a:solidFill>
            <a:prstDash val="solid"/>
          </a:ln>
        </p:spPr>
      </p:sp>
      <p:sp>
        <p:nvSpPr>
          <p:cNvPr id="20" name="Shape 18"/>
          <p:cNvSpPr/>
          <p:nvPr/>
        </p:nvSpPr>
        <p:spPr>
          <a:xfrm>
            <a:off x="777240" y="3977640"/>
            <a:ext cx="548640" cy="548640"/>
          </a:xfrm>
          <a:prstGeom prst="ellipse">
            <a:avLst/>
          </a:prstGeom>
          <a:solidFill>
            <a:srgbClr val="E6F7F5"/>
          </a:solidFill>
          <a:ln/>
        </p:spPr>
      </p:sp>
      <p:sp>
        <p:nvSpPr>
          <p:cNvPr id="21" name="Text 19"/>
          <p:cNvSpPr txBox="1"/>
          <p:nvPr/>
        </p:nvSpPr>
        <p:spPr>
          <a:xfrm>
            <a:off x="777240" y="397764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2" name="Text 20"/>
          <p:cNvSpPr txBox="1"/>
          <p:nvPr/>
        </p:nvSpPr>
        <p:spPr>
          <a:xfrm>
            <a:off x="777240" y="461772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Transparent Pricing</a:t>
            </a:r>
            <a:endParaRPr lang="en-US" sz="1400" dirty="0"/>
          </a:p>
        </p:txBody>
      </p:sp>
      <p:sp>
        <p:nvSpPr>
          <p:cNvPr id="23" name="Text 21"/>
          <p:cNvSpPr txBox="1"/>
          <p:nvPr/>
        </p:nvSpPr>
        <p:spPr>
          <a:xfrm>
            <a:off x="777240" y="491947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Every match shows a full price breakdown: base price, markup, and transportation.</a:t>
            </a:r>
            <a:endParaRPr lang="en-US" sz="1100" dirty="0"/>
          </a:p>
        </p:txBody>
      </p:sp>
      <p:sp>
        <p:nvSpPr>
          <p:cNvPr id="24" name="Shape 22"/>
          <p:cNvSpPr/>
          <p:nvPr/>
        </p:nvSpPr>
        <p:spPr>
          <a:xfrm>
            <a:off x="4242816" y="3749040"/>
            <a:ext cx="3493008" cy="1783080"/>
          </a:xfrm>
          <a:prstGeom prst="roundRect">
            <a:avLst>
              <a:gd name="adj" fmla="val 5128"/>
            </a:avLst>
          </a:prstGeom>
          <a:solidFill>
            <a:srgbClr val="F8FAFC"/>
          </a:solidFill>
          <a:ln w="12700">
            <a:solidFill>
              <a:srgbClr val="E2E8F0"/>
            </a:solidFill>
            <a:prstDash val="solid"/>
          </a:ln>
        </p:spPr>
      </p:sp>
      <p:sp>
        <p:nvSpPr>
          <p:cNvPr id="25" name="Shape 23"/>
          <p:cNvSpPr/>
          <p:nvPr/>
        </p:nvSpPr>
        <p:spPr>
          <a:xfrm>
            <a:off x="4471416" y="3977640"/>
            <a:ext cx="548640" cy="548640"/>
          </a:xfrm>
          <a:prstGeom prst="ellipse">
            <a:avLst/>
          </a:prstGeom>
          <a:solidFill>
            <a:srgbClr val="E6F7F5"/>
          </a:solidFill>
          <a:ln/>
        </p:spPr>
      </p:sp>
      <p:sp>
        <p:nvSpPr>
          <p:cNvPr id="26" name="Text 24"/>
          <p:cNvSpPr txBox="1"/>
          <p:nvPr/>
        </p:nvSpPr>
        <p:spPr>
          <a:xfrm>
            <a:off x="4471416" y="397764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7" name="Text 25"/>
          <p:cNvSpPr txBox="1"/>
          <p:nvPr/>
        </p:nvSpPr>
        <p:spPr>
          <a:xfrm>
            <a:off x="4471416" y="461772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Medicine Search</a:t>
            </a:r>
            <a:endParaRPr lang="en-US" sz="1400" dirty="0"/>
          </a:p>
        </p:txBody>
      </p:sp>
      <p:sp>
        <p:nvSpPr>
          <p:cNvPr id="28" name="Text 26"/>
          <p:cNvSpPr txBox="1"/>
          <p:nvPr/>
        </p:nvSpPr>
        <p:spPr>
          <a:xfrm>
            <a:off x="4471416" y="491947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Search any medicine to see who has it, where, and how to contact them directly.</a:t>
            </a:r>
            <a:endParaRPr lang="en-US" sz="1100" dirty="0"/>
          </a:p>
        </p:txBody>
      </p:sp>
      <p:sp>
        <p:nvSpPr>
          <p:cNvPr id="29" name="Shape 27"/>
          <p:cNvSpPr/>
          <p:nvPr/>
        </p:nvSpPr>
        <p:spPr>
          <a:xfrm>
            <a:off x="7936992" y="3749040"/>
            <a:ext cx="3493008" cy="1783080"/>
          </a:xfrm>
          <a:prstGeom prst="roundRect">
            <a:avLst>
              <a:gd name="adj" fmla="val 5128"/>
            </a:avLst>
          </a:prstGeom>
          <a:solidFill>
            <a:srgbClr val="F8FAFC"/>
          </a:solidFill>
          <a:ln w="12700">
            <a:solidFill>
              <a:srgbClr val="E2E8F0"/>
            </a:solidFill>
            <a:prstDash val="solid"/>
          </a:ln>
        </p:spPr>
      </p:sp>
      <p:sp>
        <p:nvSpPr>
          <p:cNvPr id="30" name="Shape 28"/>
          <p:cNvSpPr/>
          <p:nvPr/>
        </p:nvSpPr>
        <p:spPr>
          <a:xfrm>
            <a:off x="8165592" y="3977640"/>
            <a:ext cx="548640" cy="548640"/>
          </a:xfrm>
          <a:prstGeom prst="ellipse">
            <a:avLst/>
          </a:prstGeom>
          <a:solidFill>
            <a:srgbClr val="E6F7F5"/>
          </a:solidFill>
          <a:ln/>
        </p:spPr>
      </p:sp>
      <p:sp>
        <p:nvSpPr>
          <p:cNvPr id="31" name="Text 29"/>
          <p:cNvSpPr txBox="1"/>
          <p:nvPr/>
        </p:nvSpPr>
        <p:spPr>
          <a:xfrm>
            <a:off x="8165592" y="3977640"/>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2" name="Text 30"/>
          <p:cNvSpPr txBox="1"/>
          <p:nvPr/>
        </p:nvSpPr>
        <p:spPr>
          <a:xfrm>
            <a:off x="8165592" y="4617720"/>
            <a:ext cx="3035808" cy="320040"/>
          </a:xfrm>
          <a:prstGeom prst="rect">
            <a:avLst/>
          </a:prstGeom>
          <a:noFill/>
          <a:ln/>
        </p:spPr>
        <p:txBody>
          <a:bodyPr wrap="square"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Live Notifications</a:t>
            </a:r>
            <a:endParaRPr lang="en-US" sz="1400" dirty="0"/>
          </a:p>
        </p:txBody>
      </p:sp>
      <p:sp>
        <p:nvSpPr>
          <p:cNvPr id="33" name="Text 31"/>
          <p:cNvSpPr txBox="1"/>
          <p:nvPr/>
        </p:nvSpPr>
        <p:spPr>
          <a:xfrm>
            <a:off x="8165592" y="4919472"/>
            <a:ext cx="3035808" cy="548640"/>
          </a:xfrm>
          <a:prstGeom prst="rect">
            <a:avLst/>
          </a:prstGeom>
          <a:noFill/>
          <a:ln/>
        </p:spPr>
        <p:txBody>
          <a:bodyPr wrap="square"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Simulated SMS/email alerts on urgency and payment events, with an in-app bell.</a:t>
            </a:r>
            <a:endParaRPr lang="en-US" sz="1100" dirty="0"/>
          </a:p>
        </p:txBody>
      </p:sp>
      <p:sp>
        <p:nvSpPr>
          <p:cNvPr id="34" name="Text 3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LIVE PRODUCT</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Role-based login — Hospital or Pharmacy</a:t>
            </a:r>
            <a:endParaRPr lang="en-US" sz="3200" dirty="0"/>
          </a:p>
        </p:txBody>
      </p:sp>
      <p:pic>
        <p:nvPicPr>
          <p:cNvPr id="4" name="Image 0" descr="login_final2.png">    </p:cNvPr>
          <p:cNvPicPr>
            <a:picLocks noChangeAspect="1"/>
          </p:cNvPicPr>
          <p:nvPr/>
        </p:nvPicPr>
        <p:blipFill>
          <a:blip r:embed="rId1"/>
          <a:stretch>
            <a:fillRect/>
          </a:stretch>
        </p:blipFill>
        <p:spPr>
          <a:xfrm>
            <a:off x="5989320" y="1600200"/>
            <a:ext cx="5623560" cy="3639312"/>
          </a:xfrm>
          <a:prstGeom prst="rect">
            <a:avLst/>
          </a:prstGeom>
          <a:effectLst>
            <a:outerShdw sx="100000" sy="100000" kx="0" ky="0" algn="bl" rotWithShape="0" blurRad="152400" dist="38100" dir="5400000">
              <a:srgbClr val="1E293B">
                <a:alpha val="25000"/>
              </a:srgbClr>
            </a:outerShdw>
          </a:effectLst>
        </p:spPr>
      </p:pic>
      <p:sp>
        <p:nvSpPr>
          <p:cNvPr id="5" name="Text 2"/>
          <p:cNvSpPr txBox="1"/>
          <p:nvPr/>
        </p:nvSpPr>
        <p:spPr>
          <a:xfrm>
            <a:off x="640080" y="1965960"/>
            <a:ext cx="5029200" cy="3108960"/>
          </a:xfrm>
          <a:prstGeom prst="rect">
            <a:avLst/>
          </a:prstGeom>
          <a:noFill/>
          <a:ln/>
        </p:spPr>
        <p:txBody>
          <a:bodyPr wrap="square" rtlCol="0" anchor="t"/>
          <a:lstStyle/>
          <a:p>
            <a:pPr marL="342900" indent="-3429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Facility selects its role — Hospital or Pharmacy — at login</a:t>
            </a:r>
            <a:endParaRPr lang="en-US" sz="1500" dirty="0"/>
          </a:p>
          <a:p>
            <a:pPr marL="342900" indent="-3429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Each account only sees and manages its own registered stock</a:t>
            </a:r>
            <a:endParaRPr lang="en-US" sz="1500" dirty="0"/>
          </a:p>
          <a:p>
            <a:pPr marL="342900" indent="-3429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New facilities self-register directly from the login screen</a:t>
            </a:r>
            <a:endParaRPr lang="en-US" sz="1500" dirty="0"/>
          </a:p>
          <a:p>
            <a:pPr marL="342900" indent="-3429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Session-based access control protects every internal route</a:t>
            </a:r>
            <a:endParaRPr lang="en-US" sz="1500" dirty="0"/>
          </a:p>
        </p:txBody>
      </p:sp>
      <p:sp>
        <p:nvSpPr>
          <p:cNvPr id="6" name="Text 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LIVE PRODUCT</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Dashboard — urgency at a glance</a:t>
            </a:r>
            <a:endParaRPr lang="en-US" sz="3200" dirty="0"/>
          </a:p>
        </p:txBody>
      </p:sp>
      <p:pic>
        <p:nvPicPr>
          <p:cNvPr id="4" name="Image 0" descr="/mnt/user-data/uploads/1789337519214_image.png">    </p:cNvPr>
          <p:cNvPicPr>
            <a:picLocks noChangeAspect="1"/>
          </p:cNvPicPr>
          <p:nvPr/>
        </p:nvPicPr>
        <p:blipFill>
          <a:blip r:embed="rId1"/>
          <a:stretch>
            <a:fillRect/>
          </a:stretch>
        </p:blipFill>
        <p:spPr>
          <a:xfrm>
            <a:off x="640080" y="1965960"/>
            <a:ext cx="10881360" cy="3401568"/>
          </a:xfrm>
          <a:prstGeom prst="rect">
            <a:avLst/>
          </a:prstGeom>
          <a:effectLst>
            <a:outerShdw sx="100000" sy="100000" kx="0" ky="0" algn="bl" rotWithShape="0" blurRad="127000" dist="25400" dir="5400000">
              <a:srgbClr val="1E293B">
                <a:alpha val="20000"/>
              </a:srgbClr>
            </a:outerShdw>
          </a:effectLst>
        </p:spPr>
      </p:pic>
      <p:sp>
        <p:nvSpPr>
          <p:cNvPr id="5" name="Text 2"/>
          <p:cNvSpPr txBox="1"/>
          <p:nvPr/>
        </p:nvSpPr>
        <p:spPr>
          <a:xfrm>
            <a:off x="640080" y="5532120"/>
            <a:ext cx="10881360" cy="365760"/>
          </a:xfrm>
          <a:prstGeom prst="rect">
            <a:avLst/>
          </a:prstGeom>
          <a:noFill/>
          <a:ln/>
        </p:spPr>
        <p:txBody>
          <a:bodyPr wrap="square"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Critical</a:t>
            </a:r>
            <a:pPr algn="ctr" indent="0" marL="0">
              <a:buNone/>
            </a:pPr>
            <a:r>
              <a:rPr lang="en-US" sz="1300" dirty="0">
                <a:solidFill>
                  <a:srgbClr val="64748B"/>
                </a:solidFill>
                <a:latin typeface="Calibri" pitchFamily="34" charset="0"/>
                <a:ea typeface="Calibri" pitchFamily="34" charset="-122"/>
                <a:cs typeface="Calibri" pitchFamily="34" charset="-120"/>
              </a:rPr>
              <a:t>  ≤ 7 days      </a:t>
            </a:r>
            <a:pPr algn="ctr" indent="0" marL="0">
              <a:buNone/>
            </a:pPr>
            <a:r>
              <a:rPr lang="en-US" sz="1300" b="1" dirty="0">
                <a:solidFill>
                  <a:srgbClr val="EA580C"/>
                </a:solidFill>
                <a:latin typeface="Calibri" pitchFamily="34" charset="0"/>
                <a:ea typeface="Calibri" pitchFamily="34" charset="-122"/>
                <a:cs typeface="Calibri" pitchFamily="34" charset="-120"/>
              </a:rPr>
              <a:t>Urgent</a:t>
            </a:r>
            <a:pPr algn="ctr" indent="0" marL="0">
              <a:buNone/>
            </a:pPr>
            <a:r>
              <a:rPr lang="en-US" sz="1300" dirty="0">
                <a:solidFill>
                  <a:srgbClr val="64748B"/>
                </a:solidFill>
                <a:latin typeface="Calibri" pitchFamily="34" charset="0"/>
                <a:ea typeface="Calibri" pitchFamily="34" charset="-122"/>
                <a:cs typeface="Calibri" pitchFamily="34" charset="-120"/>
              </a:rPr>
              <a:t>  ≤ 15 days      </a:t>
            </a:r>
            <a:pPr algn="ctr" indent="0" marL="0">
              <a:buNone/>
            </a:pPr>
            <a:r>
              <a:rPr lang="en-US" sz="1300" b="1" dirty="0">
                <a:solidFill>
                  <a:srgbClr val="D97706"/>
                </a:solidFill>
                <a:latin typeface="Calibri" pitchFamily="34" charset="0"/>
                <a:ea typeface="Calibri" pitchFamily="34" charset="-122"/>
                <a:cs typeface="Calibri" pitchFamily="34" charset="-120"/>
              </a:rPr>
              <a:t>Watch</a:t>
            </a:r>
            <a:pPr algn="ctr" indent="0" marL="0">
              <a:buNone/>
            </a:pPr>
            <a:r>
              <a:rPr lang="en-US" sz="1300" dirty="0">
                <a:solidFill>
                  <a:srgbClr val="64748B"/>
                </a:solidFill>
                <a:latin typeface="Calibri" pitchFamily="34" charset="0"/>
                <a:ea typeface="Calibri" pitchFamily="34" charset="-122"/>
                <a:cs typeface="Calibri" pitchFamily="34" charset="-120"/>
              </a:rPr>
              <a:t>  ≤ 30 days      </a:t>
            </a:r>
            <a:pPr algn="ctr" indent="0" marL="0">
              <a:buNone/>
            </a:pPr>
            <a:r>
              <a:rPr lang="en-US" sz="1300" b="1" dirty="0">
                <a:solidFill>
                  <a:srgbClr val="16A34A"/>
                </a:solidFill>
                <a:latin typeface="Calibri" pitchFamily="34" charset="0"/>
                <a:ea typeface="Calibri" pitchFamily="34" charset="-122"/>
                <a:cs typeface="Calibri" pitchFamily="34" charset="-120"/>
              </a:rPr>
              <a:t>Safe</a:t>
            </a:r>
            <a:pPr algn="ctr" indent="0" marL="0">
              <a:buNone/>
            </a:pPr>
            <a:r>
              <a:rPr lang="en-US" sz="1300" dirty="0">
                <a:solidFill>
                  <a:srgbClr val="64748B"/>
                </a:solidFill>
                <a:latin typeface="Calibri" pitchFamily="34" charset="0"/>
                <a:ea typeface="Calibri" pitchFamily="34" charset="-122"/>
                <a:cs typeface="Calibri" pitchFamily="34" charset="-120"/>
              </a:rPr>
              <a:t>  30+ days</a:t>
            </a:r>
            <a:endParaRPr lang="en-US" sz="1300" dirty="0"/>
          </a:p>
        </p:txBody>
      </p:sp>
      <p:sp>
        <p:nvSpPr>
          <p:cNvPr id="6" name="Text 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WHAT MAKES THIS AI</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Urgency thresholds adapt to the medicine type</a:t>
            </a:r>
            <a:endParaRPr lang="en-US" sz="3200" dirty="0"/>
          </a:p>
        </p:txBody>
      </p:sp>
      <p:sp>
        <p:nvSpPr>
          <p:cNvPr id="4" name="Text 2"/>
          <p:cNvSpPr txBox="1"/>
          <p:nvPr/>
        </p:nvSpPr>
        <p:spPr>
          <a:xfrm>
            <a:off x="640080" y="1600200"/>
            <a:ext cx="10607040" cy="640080"/>
          </a:xfrm>
          <a:prstGeom prst="rect">
            <a:avLst/>
          </a:prstGeom>
          <a:noFill/>
          <a:ln/>
        </p:spPr>
        <p:txBody>
          <a:bodyPr wrap="square" rtlCol="0" anchor="ctr"/>
          <a:lstStyle/>
          <a:p>
            <a:pPr indent="0" marL="0">
              <a:lnSpc>
                <a:spcPct val="130000"/>
              </a:lnSpc>
              <a:buNone/>
            </a:pPr>
            <a:r>
              <a:rPr lang="en-US" sz="1450" dirty="0">
                <a:solidFill>
                  <a:srgbClr val="1E293B"/>
                </a:solidFill>
                <a:latin typeface="Calibri" pitchFamily="34" charset="0"/>
                <a:ea typeface="Calibri" pitchFamily="34" charset="-122"/>
                <a:cs typeface="Calibri" pitchFamily="34" charset="-120"/>
              </a:rPr>
              <a:t>Not all medicines carry the same risk when they expire. MedRescue AI applies different urgency windows depending on the medicine type, so the system flags what actually needs attention first.</a:t>
            </a:r>
            <a:endParaRPr lang="en-US" sz="1450" dirty="0"/>
          </a:p>
        </p:txBody>
      </p:sp>
      <p:sp>
        <p:nvSpPr>
          <p:cNvPr id="5" name="Shape 3"/>
          <p:cNvSpPr/>
          <p:nvPr/>
        </p:nvSpPr>
        <p:spPr>
          <a:xfrm>
            <a:off x="640080" y="2468880"/>
            <a:ext cx="10881360" cy="502920"/>
          </a:xfrm>
          <a:prstGeom prst="roundRect">
            <a:avLst>
              <a:gd name="adj" fmla="val 10909"/>
            </a:avLst>
          </a:prstGeom>
          <a:solidFill>
            <a:srgbClr val="0A2540"/>
          </a:solidFill>
          <a:ln/>
        </p:spPr>
      </p:sp>
      <p:sp>
        <p:nvSpPr>
          <p:cNvPr id="6" name="Text 4"/>
          <p:cNvSpPr txBox="1"/>
          <p:nvPr/>
        </p:nvSpPr>
        <p:spPr>
          <a:xfrm>
            <a:off x="640080" y="2468880"/>
            <a:ext cx="2560320" cy="5029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Medicine Type</a:t>
            </a:r>
            <a:endParaRPr lang="en-US" sz="1300" dirty="0"/>
          </a:p>
        </p:txBody>
      </p:sp>
      <p:sp>
        <p:nvSpPr>
          <p:cNvPr id="7" name="Text 5"/>
          <p:cNvSpPr txBox="1"/>
          <p:nvPr/>
        </p:nvSpPr>
        <p:spPr>
          <a:xfrm>
            <a:off x="3200400" y="246888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Critical</a:t>
            </a:r>
            <a:endParaRPr lang="en-US" sz="1300" dirty="0"/>
          </a:p>
        </p:txBody>
      </p:sp>
      <p:sp>
        <p:nvSpPr>
          <p:cNvPr id="8" name="Text 6"/>
          <p:cNvSpPr txBox="1"/>
          <p:nvPr/>
        </p:nvSpPr>
        <p:spPr>
          <a:xfrm>
            <a:off x="5120640" y="246888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Urgent</a:t>
            </a:r>
            <a:endParaRPr lang="en-US" sz="1300" dirty="0"/>
          </a:p>
        </p:txBody>
      </p:sp>
      <p:sp>
        <p:nvSpPr>
          <p:cNvPr id="9" name="Text 7"/>
          <p:cNvSpPr txBox="1"/>
          <p:nvPr/>
        </p:nvSpPr>
        <p:spPr>
          <a:xfrm>
            <a:off x="7040880" y="246888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Watch</a:t>
            </a:r>
            <a:endParaRPr lang="en-US" sz="1300" dirty="0"/>
          </a:p>
        </p:txBody>
      </p:sp>
      <p:sp>
        <p:nvSpPr>
          <p:cNvPr id="10" name="Text 8"/>
          <p:cNvSpPr txBox="1"/>
          <p:nvPr/>
        </p:nvSpPr>
        <p:spPr>
          <a:xfrm>
            <a:off x="8961120" y="2468880"/>
            <a:ext cx="256032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p>
        </p:txBody>
      </p:sp>
      <p:sp>
        <p:nvSpPr>
          <p:cNvPr id="11" name="Shape 9"/>
          <p:cNvSpPr/>
          <p:nvPr/>
        </p:nvSpPr>
        <p:spPr>
          <a:xfrm>
            <a:off x="640080" y="2971800"/>
            <a:ext cx="10881360" cy="685800"/>
          </a:xfrm>
          <a:prstGeom prst="rect">
            <a:avLst/>
          </a:prstGeom>
          <a:solidFill>
            <a:srgbClr val="F8FAFC"/>
          </a:solidFill>
          <a:ln/>
        </p:spPr>
      </p:sp>
      <p:sp>
        <p:nvSpPr>
          <p:cNvPr id="12" name="Text 10"/>
          <p:cNvSpPr txBox="1"/>
          <p:nvPr/>
        </p:nvSpPr>
        <p:spPr>
          <a:xfrm>
            <a:off x="640080" y="2971800"/>
            <a:ext cx="2560320" cy="685800"/>
          </a:xfrm>
          <a:prstGeom prst="rect">
            <a:avLst/>
          </a:prstGeom>
          <a:noFill/>
          <a:ln/>
        </p:spPr>
        <p:txBody>
          <a:bodyPr wrap="square"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Injectable</a:t>
            </a:r>
            <a:endParaRPr lang="en-US" sz="1300" dirty="0"/>
          </a:p>
        </p:txBody>
      </p:sp>
      <p:sp>
        <p:nvSpPr>
          <p:cNvPr id="13" name="Text 11"/>
          <p:cNvSpPr txBox="1"/>
          <p:nvPr/>
        </p:nvSpPr>
        <p:spPr>
          <a:xfrm>
            <a:off x="3200400" y="2971800"/>
            <a:ext cx="1920240" cy="685800"/>
          </a:xfrm>
          <a:prstGeom prst="rect">
            <a:avLst/>
          </a:prstGeom>
          <a:noFill/>
          <a:ln/>
        </p:spPr>
        <p:txBody>
          <a:bodyPr wrap="square"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 3 days</a:t>
            </a:r>
            <a:endParaRPr lang="en-US" sz="1300" dirty="0"/>
          </a:p>
        </p:txBody>
      </p:sp>
      <p:sp>
        <p:nvSpPr>
          <p:cNvPr id="14" name="Text 12"/>
          <p:cNvSpPr txBox="1"/>
          <p:nvPr/>
        </p:nvSpPr>
        <p:spPr>
          <a:xfrm>
            <a:off x="5120640" y="2971800"/>
            <a:ext cx="1920240" cy="685800"/>
          </a:xfrm>
          <a:prstGeom prst="rect">
            <a:avLst/>
          </a:prstGeom>
          <a:noFill/>
          <a:ln/>
        </p:spPr>
        <p:txBody>
          <a:bodyPr wrap="square" rtlCol="0" anchor="ctr"/>
          <a:lstStyle/>
          <a:p>
            <a:pPr algn="ctr" indent="0" marL="0">
              <a:buNone/>
            </a:pPr>
            <a:r>
              <a:rPr lang="en-US" sz="1300" b="1" dirty="0">
                <a:solidFill>
                  <a:srgbClr val="EA580C"/>
                </a:solidFill>
                <a:latin typeface="Calibri" pitchFamily="34" charset="0"/>
                <a:ea typeface="Calibri" pitchFamily="34" charset="-122"/>
                <a:cs typeface="Calibri" pitchFamily="34" charset="-120"/>
              </a:rPr>
              <a:t>≤ 7 days</a:t>
            </a:r>
            <a:endParaRPr lang="en-US" sz="1300" dirty="0"/>
          </a:p>
        </p:txBody>
      </p:sp>
      <p:sp>
        <p:nvSpPr>
          <p:cNvPr id="15" name="Text 13"/>
          <p:cNvSpPr txBox="1"/>
          <p:nvPr/>
        </p:nvSpPr>
        <p:spPr>
          <a:xfrm>
            <a:off x="7040880" y="2971800"/>
            <a:ext cx="1920240" cy="685800"/>
          </a:xfrm>
          <a:prstGeom prst="rect">
            <a:avLst/>
          </a:prstGeom>
          <a:noFill/>
          <a:ln/>
        </p:spPr>
        <p:txBody>
          <a:bodyPr wrap="square" rtlCol="0" anchor="ctr"/>
          <a:lstStyle/>
          <a:p>
            <a:pPr algn="ctr" indent="0" marL="0">
              <a:buNone/>
            </a:pPr>
            <a:r>
              <a:rPr lang="en-US" sz="1300" b="1" dirty="0">
                <a:solidFill>
                  <a:srgbClr val="D97706"/>
                </a:solidFill>
                <a:latin typeface="Calibri" pitchFamily="34" charset="0"/>
                <a:ea typeface="Calibri" pitchFamily="34" charset="-122"/>
                <a:cs typeface="Calibri" pitchFamily="34" charset="-120"/>
              </a:rPr>
              <a:t>≤ 15 days</a:t>
            </a:r>
            <a:endParaRPr lang="en-US" sz="1300" dirty="0"/>
          </a:p>
        </p:txBody>
      </p:sp>
      <p:sp>
        <p:nvSpPr>
          <p:cNvPr id="16" name="Text 14"/>
          <p:cNvSpPr txBox="1"/>
          <p:nvPr/>
        </p:nvSpPr>
        <p:spPr>
          <a:xfrm>
            <a:off x="8961120" y="2971800"/>
            <a:ext cx="2560320" cy="68580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Highest sensitivity — flagged earliest</a:t>
            </a:r>
            <a:endParaRPr lang="en-US" sz="1150" dirty="0"/>
          </a:p>
        </p:txBody>
      </p:sp>
      <p:sp>
        <p:nvSpPr>
          <p:cNvPr id="17" name="Text 15"/>
          <p:cNvSpPr txBox="1"/>
          <p:nvPr/>
        </p:nvSpPr>
        <p:spPr>
          <a:xfrm>
            <a:off x="640080" y="3657600"/>
            <a:ext cx="2560320" cy="685800"/>
          </a:xfrm>
          <a:prstGeom prst="rect">
            <a:avLst/>
          </a:prstGeom>
          <a:noFill/>
          <a:ln/>
        </p:spPr>
        <p:txBody>
          <a:bodyPr wrap="square"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Tablet / Capsule</a:t>
            </a:r>
            <a:endParaRPr lang="en-US" sz="1300" dirty="0"/>
          </a:p>
        </p:txBody>
      </p:sp>
      <p:sp>
        <p:nvSpPr>
          <p:cNvPr id="18" name="Text 16"/>
          <p:cNvSpPr txBox="1"/>
          <p:nvPr/>
        </p:nvSpPr>
        <p:spPr>
          <a:xfrm>
            <a:off x="3200400" y="3657600"/>
            <a:ext cx="1920240" cy="685800"/>
          </a:xfrm>
          <a:prstGeom prst="rect">
            <a:avLst/>
          </a:prstGeom>
          <a:noFill/>
          <a:ln/>
        </p:spPr>
        <p:txBody>
          <a:bodyPr wrap="square"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 10 days</a:t>
            </a:r>
            <a:endParaRPr lang="en-US" sz="1300" dirty="0"/>
          </a:p>
        </p:txBody>
      </p:sp>
      <p:sp>
        <p:nvSpPr>
          <p:cNvPr id="19" name="Text 17"/>
          <p:cNvSpPr txBox="1"/>
          <p:nvPr/>
        </p:nvSpPr>
        <p:spPr>
          <a:xfrm>
            <a:off x="5120640" y="3657600"/>
            <a:ext cx="1920240" cy="685800"/>
          </a:xfrm>
          <a:prstGeom prst="rect">
            <a:avLst/>
          </a:prstGeom>
          <a:noFill/>
          <a:ln/>
        </p:spPr>
        <p:txBody>
          <a:bodyPr wrap="square" rtlCol="0" anchor="ctr"/>
          <a:lstStyle/>
          <a:p>
            <a:pPr algn="ctr" indent="0" marL="0">
              <a:buNone/>
            </a:pPr>
            <a:r>
              <a:rPr lang="en-US" sz="1300" b="1" dirty="0">
                <a:solidFill>
                  <a:srgbClr val="EA580C"/>
                </a:solidFill>
                <a:latin typeface="Calibri" pitchFamily="34" charset="0"/>
                <a:ea typeface="Calibri" pitchFamily="34" charset="-122"/>
                <a:cs typeface="Calibri" pitchFamily="34" charset="-120"/>
              </a:rPr>
              <a:t>≤ 20 days</a:t>
            </a:r>
            <a:endParaRPr lang="en-US" sz="1300" dirty="0"/>
          </a:p>
        </p:txBody>
      </p:sp>
      <p:sp>
        <p:nvSpPr>
          <p:cNvPr id="20" name="Text 18"/>
          <p:cNvSpPr txBox="1"/>
          <p:nvPr/>
        </p:nvSpPr>
        <p:spPr>
          <a:xfrm>
            <a:off x="7040880" y="3657600"/>
            <a:ext cx="1920240" cy="685800"/>
          </a:xfrm>
          <a:prstGeom prst="rect">
            <a:avLst/>
          </a:prstGeom>
          <a:noFill/>
          <a:ln/>
        </p:spPr>
        <p:txBody>
          <a:bodyPr wrap="square" rtlCol="0" anchor="ctr"/>
          <a:lstStyle/>
          <a:p>
            <a:pPr algn="ctr" indent="0" marL="0">
              <a:buNone/>
            </a:pPr>
            <a:r>
              <a:rPr lang="en-US" sz="1300" b="1" dirty="0">
                <a:solidFill>
                  <a:srgbClr val="D97706"/>
                </a:solidFill>
                <a:latin typeface="Calibri" pitchFamily="34" charset="0"/>
                <a:ea typeface="Calibri" pitchFamily="34" charset="-122"/>
                <a:cs typeface="Calibri" pitchFamily="34" charset="-120"/>
              </a:rPr>
              <a:t>≤ 30 days</a:t>
            </a:r>
            <a:endParaRPr lang="en-US" sz="1300" dirty="0"/>
          </a:p>
        </p:txBody>
      </p:sp>
      <p:sp>
        <p:nvSpPr>
          <p:cNvPr id="21" name="Text 19"/>
          <p:cNvSpPr txBox="1"/>
          <p:nvPr/>
        </p:nvSpPr>
        <p:spPr>
          <a:xfrm>
            <a:off x="8961120" y="3657600"/>
            <a:ext cx="2560320" cy="68580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Longer safe buffer, stable shelf life</a:t>
            </a:r>
            <a:endParaRPr lang="en-US" sz="1150" dirty="0"/>
          </a:p>
        </p:txBody>
      </p:sp>
      <p:sp>
        <p:nvSpPr>
          <p:cNvPr id="22" name="Shape 20"/>
          <p:cNvSpPr/>
          <p:nvPr/>
        </p:nvSpPr>
        <p:spPr>
          <a:xfrm>
            <a:off x="640080" y="4343400"/>
            <a:ext cx="10881360" cy="685800"/>
          </a:xfrm>
          <a:prstGeom prst="rect">
            <a:avLst/>
          </a:prstGeom>
          <a:solidFill>
            <a:srgbClr val="F8FAFC"/>
          </a:solidFill>
          <a:ln/>
        </p:spPr>
      </p:sp>
      <p:sp>
        <p:nvSpPr>
          <p:cNvPr id="23" name="Text 21"/>
          <p:cNvSpPr txBox="1"/>
          <p:nvPr/>
        </p:nvSpPr>
        <p:spPr>
          <a:xfrm>
            <a:off x="640080" y="4343400"/>
            <a:ext cx="2560320" cy="685800"/>
          </a:xfrm>
          <a:prstGeom prst="rect">
            <a:avLst/>
          </a:prstGeom>
          <a:noFill/>
          <a:ln/>
        </p:spPr>
        <p:txBody>
          <a:bodyPr wrap="square"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Syrup / Other</a:t>
            </a:r>
            <a:endParaRPr lang="en-US" sz="1300" dirty="0"/>
          </a:p>
        </p:txBody>
      </p:sp>
      <p:sp>
        <p:nvSpPr>
          <p:cNvPr id="24" name="Text 22"/>
          <p:cNvSpPr txBox="1"/>
          <p:nvPr/>
        </p:nvSpPr>
        <p:spPr>
          <a:xfrm>
            <a:off x="3200400" y="4343400"/>
            <a:ext cx="1920240" cy="685800"/>
          </a:xfrm>
          <a:prstGeom prst="rect">
            <a:avLst/>
          </a:prstGeom>
          <a:noFill/>
          <a:ln/>
        </p:spPr>
        <p:txBody>
          <a:bodyPr wrap="square"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 7 days</a:t>
            </a:r>
            <a:endParaRPr lang="en-US" sz="1300" dirty="0"/>
          </a:p>
        </p:txBody>
      </p:sp>
      <p:sp>
        <p:nvSpPr>
          <p:cNvPr id="25" name="Text 23"/>
          <p:cNvSpPr txBox="1"/>
          <p:nvPr/>
        </p:nvSpPr>
        <p:spPr>
          <a:xfrm>
            <a:off x="5120640" y="4343400"/>
            <a:ext cx="1920240" cy="685800"/>
          </a:xfrm>
          <a:prstGeom prst="rect">
            <a:avLst/>
          </a:prstGeom>
          <a:noFill/>
          <a:ln/>
        </p:spPr>
        <p:txBody>
          <a:bodyPr wrap="square" rtlCol="0" anchor="ctr"/>
          <a:lstStyle/>
          <a:p>
            <a:pPr algn="ctr" indent="0" marL="0">
              <a:buNone/>
            </a:pPr>
            <a:r>
              <a:rPr lang="en-US" sz="1300" b="1" dirty="0">
                <a:solidFill>
                  <a:srgbClr val="EA580C"/>
                </a:solidFill>
                <a:latin typeface="Calibri" pitchFamily="34" charset="0"/>
                <a:ea typeface="Calibri" pitchFamily="34" charset="-122"/>
                <a:cs typeface="Calibri" pitchFamily="34" charset="-120"/>
              </a:rPr>
              <a:t>≤ 15 days</a:t>
            </a:r>
            <a:endParaRPr lang="en-US" sz="1300" dirty="0"/>
          </a:p>
        </p:txBody>
      </p:sp>
      <p:sp>
        <p:nvSpPr>
          <p:cNvPr id="26" name="Text 24"/>
          <p:cNvSpPr txBox="1"/>
          <p:nvPr/>
        </p:nvSpPr>
        <p:spPr>
          <a:xfrm>
            <a:off x="7040880" y="4343400"/>
            <a:ext cx="1920240" cy="685800"/>
          </a:xfrm>
          <a:prstGeom prst="rect">
            <a:avLst/>
          </a:prstGeom>
          <a:noFill/>
          <a:ln/>
        </p:spPr>
        <p:txBody>
          <a:bodyPr wrap="square" rtlCol="0" anchor="ctr"/>
          <a:lstStyle/>
          <a:p>
            <a:pPr algn="ctr" indent="0" marL="0">
              <a:buNone/>
            </a:pPr>
            <a:r>
              <a:rPr lang="en-US" sz="1300" b="1" dirty="0">
                <a:solidFill>
                  <a:srgbClr val="D97706"/>
                </a:solidFill>
                <a:latin typeface="Calibri" pitchFamily="34" charset="0"/>
                <a:ea typeface="Calibri" pitchFamily="34" charset="-122"/>
                <a:cs typeface="Calibri" pitchFamily="34" charset="-120"/>
              </a:rPr>
              <a:t>≤ 30 days</a:t>
            </a:r>
            <a:endParaRPr lang="en-US" sz="1300" dirty="0"/>
          </a:p>
        </p:txBody>
      </p:sp>
      <p:sp>
        <p:nvSpPr>
          <p:cNvPr id="27" name="Text 25"/>
          <p:cNvSpPr txBox="1"/>
          <p:nvPr/>
        </p:nvSpPr>
        <p:spPr>
          <a:xfrm>
            <a:off x="8961120" y="4343400"/>
            <a:ext cx="2560320" cy="68580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Standard default thresholds</a:t>
            </a:r>
            <a:endParaRPr lang="en-US" sz="1150" dirty="0"/>
          </a:p>
        </p:txBody>
      </p:sp>
      <p:sp>
        <p:nvSpPr>
          <p:cNvPr id="28" name="Text 2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How data flows end to end</a:t>
            </a:r>
            <a:endParaRPr lang="en-US" sz="3200" dirty="0"/>
          </a:p>
        </p:txBody>
      </p:sp>
      <p:sp>
        <p:nvSpPr>
          <p:cNvPr id="4" name="Shape 2"/>
          <p:cNvSpPr/>
          <p:nvPr/>
        </p:nvSpPr>
        <p:spPr>
          <a:xfrm>
            <a:off x="457200" y="2103120"/>
            <a:ext cx="1965960" cy="1005840"/>
          </a:xfrm>
          <a:prstGeom prst="roundRect">
            <a:avLst>
              <a:gd name="adj" fmla="val 7273"/>
            </a:avLst>
          </a:prstGeom>
          <a:solidFill>
            <a:srgbClr val="0A2540"/>
          </a:solidFill>
          <a:ln/>
        </p:spPr>
      </p:sp>
      <p:sp>
        <p:nvSpPr>
          <p:cNvPr id="5" name="Text 3"/>
          <p:cNvSpPr txBox="1"/>
          <p:nvPr/>
        </p:nvSpPr>
        <p:spPr>
          <a:xfrm>
            <a:off x="457200" y="2103120"/>
            <a:ext cx="1965960" cy="100584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Facility</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(Hospital / Pharmacy)</a:t>
            </a:r>
            <a:endParaRPr lang="en-US" sz="1250" dirty="0"/>
          </a:p>
        </p:txBody>
      </p:sp>
      <p:sp>
        <p:nvSpPr>
          <p:cNvPr id="6" name="Text 4"/>
          <p:cNvSpPr txBox="1"/>
          <p:nvPr/>
        </p:nvSpPr>
        <p:spPr>
          <a:xfrm>
            <a:off x="2423160" y="2103120"/>
            <a:ext cx="274320" cy="10058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7" name="Shape 5"/>
          <p:cNvSpPr/>
          <p:nvPr/>
        </p:nvSpPr>
        <p:spPr>
          <a:xfrm>
            <a:off x="2697480" y="2103120"/>
            <a:ext cx="1965960" cy="1005840"/>
          </a:xfrm>
          <a:prstGeom prst="roundRect">
            <a:avLst>
              <a:gd name="adj" fmla="val 7273"/>
            </a:avLst>
          </a:prstGeom>
          <a:solidFill>
            <a:srgbClr val="0A2540"/>
          </a:solidFill>
          <a:ln/>
        </p:spPr>
      </p:sp>
      <p:sp>
        <p:nvSpPr>
          <p:cNvPr id="8" name="Text 6"/>
          <p:cNvSpPr txBox="1"/>
          <p:nvPr/>
        </p:nvSpPr>
        <p:spPr>
          <a:xfrm>
            <a:off x="2697480" y="2103120"/>
            <a:ext cx="1965960" cy="100584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Flask</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Web App</a:t>
            </a:r>
            <a:endParaRPr lang="en-US" sz="1250" dirty="0"/>
          </a:p>
        </p:txBody>
      </p:sp>
      <p:sp>
        <p:nvSpPr>
          <p:cNvPr id="9" name="Text 7"/>
          <p:cNvSpPr txBox="1"/>
          <p:nvPr/>
        </p:nvSpPr>
        <p:spPr>
          <a:xfrm>
            <a:off x="4663440" y="2103120"/>
            <a:ext cx="274320" cy="10058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0" name="Shape 8"/>
          <p:cNvSpPr/>
          <p:nvPr/>
        </p:nvSpPr>
        <p:spPr>
          <a:xfrm>
            <a:off x="4937760" y="2103120"/>
            <a:ext cx="1965960" cy="1005840"/>
          </a:xfrm>
          <a:prstGeom prst="roundRect">
            <a:avLst>
              <a:gd name="adj" fmla="val 7273"/>
            </a:avLst>
          </a:prstGeom>
          <a:solidFill>
            <a:srgbClr val="0D9488"/>
          </a:solidFill>
          <a:ln/>
        </p:spPr>
      </p:sp>
      <p:sp>
        <p:nvSpPr>
          <p:cNvPr id="11" name="Text 9"/>
          <p:cNvSpPr txBox="1"/>
          <p:nvPr/>
        </p:nvSpPr>
        <p:spPr>
          <a:xfrm>
            <a:off x="4937760" y="2103120"/>
            <a:ext cx="1965960" cy="100584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Matching</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p>
        </p:txBody>
      </p:sp>
      <p:sp>
        <p:nvSpPr>
          <p:cNvPr id="12" name="Text 10"/>
          <p:cNvSpPr txBox="1"/>
          <p:nvPr/>
        </p:nvSpPr>
        <p:spPr>
          <a:xfrm>
            <a:off x="6903720" y="2103120"/>
            <a:ext cx="274320" cy="10058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3" name="Shape 11"/>
          <p:cNvSpPr/>
          <p:nvPr/>
        </p:nvSpPr>
        <p:spPr>
          <a:xfrm>
            <a:off x="7178040" y="2103120"/>
            <a:ext cx="1965960" cy="1005840"/>
          </a:xfrm>
          <a:prstGeom prst="roundRect">
            <a:avLst>
              <a:gd name="adj" fmla="val 7273"/>
            </a:avLst>
          </a:prstGeom>
          <a:solidFill>
            <a:srgbClr val="0A2540"/>
          </a:solidFill>
          <a:ln/>
        </p:spPr>
      </p:sp>
      <p:sp>
        <p:nvSpPr>
          <p:cNvPr id="14" name="Text 12"/>
          <p:cNvSpPr txBox="1"/>
          <p:nvPr/>
        </p:nvSpPr>
        <p:spPr>
          <a:xfrm>
            <a:off x="7178040" y="2103120"/>
            <a:ext cx="1965960" cy="100584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SQLite</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15" name="Text 13"/>
          <p:cNvSpPr txBox="1"/>
          <p:nvPr/>
        </p:nvSpPr>
        <p:spPr>
          <a:xfrm>
            <a:off x="9144000" y="2103120"/>
            <a:ext cx="274320" cy="1005840"/>
          </a:xfrm>
          <a:prstGeom prst="rect">
            <a:avLst/>
          </a:prstGeom>
          <a:noFill/>
          <a:ln/>
        </p:spPr>
        <p:txBody>
          <a:bodyPr wrap="square" rtlCol="0" anchor="ctr"/>
          <a:lstStyle/>
          <a:p>
            <a:pPr algn="ctr" indent="0" marL="0">
              <a:buNone/>
            </a:pPr>
            <a:r>
              <a:rPr lang="en-US" sz="1800" b="1" dirty="0">
                <a:solidFill>
                  <a:srgbClr val="0D9488"/>
                </a:solidFill>
              </a:rPr>
              <a:t>→</a:t>
            </a:r>
            <a:endParaRPr lang="en-US" sz="1800" dirty="0"/>
          </a:p>
        </p:txBody>
      </p:sp>
      <p:sp>
        <p:nvSpPr>
          <p:cNvPr id="16" name="Shape 14"/>
          <p:cNvSpPr/>
          <p:nvPr/>
        </p:nvSpPr>
        <p:spPr>
          <a:xfrm>
            <a:off x="9418320" y="2103120"/>
            <a:ext cx="1965960" cy="1005840"/>
          </a:xfrm>
          <a:prstGeom prst="roundRect">
            <a:avLst>
              <a:gd name="adj" fmla="val 7273"/>
            </a:avLst>
          </a:prstGeom>
          <a:solidFill>
            <a:srgbClr val="0A2540"/>
          </a:solidFill>
          <a:ln/>
        </p:spPr>
      </p:sp>
      <p:sp>
        <p:nvSpPr>
          <p:cNvPr id="17" name="Text 15"/>
          <p:cNvSpPr txBox="1"/>
          <p:nvPr/>
        </p:nvSpPr>
        <p:spPr>
          <a:xfrm>
            <a:off x="9418320" y="2103120"/>
            <a:ext cx="1965960" cy="100584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Notification</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Log (SMS/Email)</a:t>
            </a:r>
            <a:endParaRPr lang="en-US" sz="1250" dirty="0"/>
          </a:p>
        </p:txBody>
      </p:sp>
      <p:sp>
        <p:nvSpPr>
          <p:cNvPr id="18" name="Text 16"/>
          <p:cNvSpPr txBox="1"/>
          <p:nvPr/>
        </p:nvSpPr>
        <p:spPr>
          <a:xfrm>
            <a:off x="4937760" y="3429000"/>
            <a:ext cx="1965960" cy="320040"/>
          </a:xfrm>
          <a:prstGeom prst="rect">
            <a:avLst/>
          </a:prstGeom>
          <a:noFill/>
          <a:ln/>
        </p:spPr>
        <p:txBody>
          <a:bodyPr wrap="square"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Built with IBM Bob</a:t>
            </a:r>
            <a:endParaRPr lang="en-US" sz="1050" dirty="0"/>
          </a:p>
        </p:txBody>
      </p:sp>
      <p:sp>
        <p:nvSpPr>
          <p:cNvPr id="19" name="Text 17"/>
          <p:cNvSpPr txBox="1"/>
          <p:nvPr/>
        </p:nvSpPr>
        <p:spPr>
          <a:xfrm>
            <a:off x="548640" y="3611880"/>
            <a:ext cx="11064240" cy="2560320"/>
          </a:xfrm>
          <a:prstGeom prst="rect">
            <a:avLst/>
          </a:prstGeom>
          <a:noFill/>
          <a:ln/>
        </p:spPr>
        <p:txBody>
          <a:bodyPr wrap="square" rtlCol="0" anchor="ctr"/>
          <a:lstStyle/>
          <a:p>
            <a:pPr indent="0" marL="0">
              <a:lnSpc>
                <a:spcPct val="120000"/>
              </a:lnSpc>
              <a:spcAft>
                <a:spcPts val="1000"/>
              </a:spcAft>
              <a:buNone/>
            </a:pPr>
            <a:r>
              <a:rPr lang="en-US" sz="1350" dirty="0">
                <a:solidFill>
                  <a:srgbClr val="1E293B"/>
                </a:solidFill>
                <a:latin typeface="Calibri" pitchFamily="34" charset="0"/>
                <a:ea typeface="Calibri" pitchFamily="34" charset="-122"/>
                <a:cs typeface="Calibri" pitchFamily="34" charset="-120"/>
              </a:rPr>
              <a:t>1.  Facility registers medicine stock (name, quantity, manufacture and expiry date, type).</a:t>
            </a:r>
            <a:endParaRPr lang="en-US" sz="1350" dirty="0"/>
          </a:p>
          <a:p>
            <a:pPr indent="0" marL="0">
              <a:lnSpc>
                <a:spcPct val="120000"/>
              </a:lnSpc>
              <a:spcAft>
                <a:spcPts val="1000"/>
              </a:spcAft>
              <a:buNone/>
            </a:pPr>
            <a:r>
              <a:rPr lang="en-US" sz="1350" dirty="0">
                <a:solidFill>
                  <a:srgbClr val="1E293B"/>
                </a:solidFill>
                <a:latin typeface="Calibri" pitchFamily="34" charset="0"/>
                <a:ea typeface="Calibri" pitchFamily="34" charset="-122"/>
                <a:cs typeface="Calibri" pitchFamily="34" charset="-120"/>
              </a:rPr>
              <a:t>2.  The Expiry Risk Engine scans stock and flags items nearing expiry using type-specific thresholds.</a:t>
            </a:r>
            <a:endParaRPr lang="en-US" sz="1350" dirty="0"/>
          </a:p>
          <a:p>
            <a:pPr indent="0" marL="0">
              <a:lnSpc>
                <a:spcPct val="120000"/>
              </a:lnSpc>
              <a:spcAft>
                <a:spcPts val="1000"/>
              </a:spcAft>
              <a:buNone/>
            </a:pPr>
            <a:r>
              <a:rPr lang="en-US" sz="1350" dirty="0">
                <a:solidFill>
                  <a:srgbClr val="1E293B"/>
                </a:solidFill>
                <a:latin typeface="Calibri" pitchFamily="34" charset="0"/>
                <a:ea typeface="Calibri" pitchFamily="34" charset="-122"/>
                <a:cs typeface="Calibri" pitchFamily="34" charset="-120"/>
              </a:rPr>
              <a:t>3.  The Matching Engine ranks other facilities by need, quantity fit, proximity, and urgency.</a:t>
            </a:r>
            <a:endParaRPr lang="en-US" sz="1350" dirty="0"/>
          </a:p>
          <a:p>
            <a:pPr indent="0" marL="0">
              <a:lnSpc>
                <a:spcPct val="120000"/>
              </a:lnSpc>
              <a:spcAft>
                <a:spcPts val="1000"/>
              </a:spcAft>
              <a:buNone/>
            </a:pPr>
            <a:r>
              <a:rPr lang="en-US" sz="1350" dirty="0">
                <a:solidFill>
                  <a:srgbClr val="1E293B"/>
                </a:solidFill>
                <a:latin typeface="Calibri" pitchFamily="34" charset="0"/>
                <a:ea typeface="Calibri" pitchFamily="34" charset="-122"/>
                <a:cs typeface="Calibri" pitchFamily="34" charset="-120"/>
              </a:rPr>
              <a:t>4.  A reasoned recommendation and price breakdown is generated and shown to both facilities.</a:t>
            </a:r>
            <a:endParaRPr lang="en-US" sz="1350" dirty="0"/>
          </a:p>
          <a:p>
            <a:pPr indent="0" marL="0">
              <a:lnSpc>
                <a:spcPct val="120000"/>
              </a:lnSpc>
              <a:spcAft>
                <a:spcPts val="1000"/>
              </a:spcAft>
              <a:buNone/>
            </a:pPr>
            <a:r>
              <a:rPr lang="en-US" sz="1350" dirty="0">
                <a:solidFill>
                  <a:srgbClr val="1E293B"/>
                </a:solidFill>
                <a:latin typeface="Calibri" pitchFamily="34" charset="0"/>
                <a:ea typeface="Calibri" pitchFamily="34" charset="-122"/>
                <a:cs typeface="Calibri" pitchFamily="34" charset="-120"/>
              </a:rPr>
              <a:t>5.  Staff review and approve the transfer — stock and audit records update automatically.</a:t>
            </a:r>
            <a:endParaRPr lang="en-US" sz="1350" dirty="0"/>
          </a:p>
        </p:txBody>
      </p:sp>
      <p:sp>
        <p:nvSpPr>
          <p:cNvPr id="20"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TECH STACK</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Simple, reliable, and genuinely built with IBM Bob</a:t>
            </a:r>
            <a:endParaRPr lang="en-US" sz="3200" dirty="0"/>
          </a:p>
        </p:txBody>
      </p:sp>
      <p:sp>
        <p:nvSpPr>
          <p:cNvPr id="4" name="Text 2"/>
          <p:cNvSpPr txBox="1"/>
          <p:nvPr/>
        </p:nvSpPr>
        <p:spPr>
          <a:xfrm>
            <a:off x="640080" y="1828800"/>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Languages</a:t>
            </a:r>
            <a:endParaRPr lang="en-US" sz="1400" dirty="0"/>
          </a:p>
        </p:txBody>
      </p:sp>
      <p:sp>
        <p:nvSpPr>
          <p:cNvPr id="5" name="Text 3"/>
          <p:cNvSpPr txBox="1"/>
          <p:nvPr/>
        </p:nvSpPr>
        <p:spPr>
          <a:xfrm>
            <a:off x="3657600" y="1828800"/>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Python, HTML, CSS, JavaScript</a:t>
            </a:r>
            <a:endParaRPr lang="en-US" sz="1400" dirty="0"/>
          </a:p>
        </p:txBody>
      </p:sp>
      <p:sp>
        <p:nvSpPr>
          <p:cNvPr id="6" name="Shape 4"/>
          <p:cNvSpPr/>
          <p:nvPr/>
        </p:nvSpPr>
        <p:spPr>
          <a:xfrm>
            <a:off x="640080" y="2468880"/>
            <a:ext cx="10789920" cy="0"/>
          </a:xfrm>
          <a:prstGeom prst="line">
            <a:avLst/>
          </a:prstGeom>
          <a:noFill/>
          <a:ln w="12700">
            <a:solidFill>
              <a:srgbClr val="0E3460"/>
            </a:solidFill>
            <a:prstDash val="solid"/>
          </a:ln>
        </p:spPr>
      </p:sp>
      <p:sp>
        <p:nvSpPr>
          <p:cNvPr id="7" name="Text 5"/>
          <p:cNvSpPr txBox="1"/>
          <p:nvPr/>
        </p:nvSpPr>
        <p:spPr>
          <a:xfrm>
            <a:off x="640080" y="2487168"/>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Framework</a:t>
            </a:r>
            <a:endParaRPr lang="en-US" sz="1400" dirty="0"/>
          </a:p>
        </p:txBody>
      </p:sp>
      <p:sp>
        <p:nvSpPr>
          <p:cNvPr id="8" name="Text 6"/>
          <p:cNvSpPr txBox="1"/>
          <p:nvPr/>
        </p:nvSpPr>
        <p:spPr>
          <a:xfrm>
            <a:off x="3657600" y="2487168"/>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Flask</a:t>
            </a:r>
            <a:endParaRPr lang="en-US" sz="1400" dirty="0"/>
          </a:p>
        </p:txBody>
      </p:sp>
      <p:sp>
        <p:nvSpPr>
          <p:cNvPr id="9" name="Shape 7"/>
          <p:cNvSpPr/>
          <p:nvPr/>
        </p:nvSpPr>
        <p:spPr>
          <a:xfrm>
            <a:off x="640080" y="3127248"/>
            <a:ext cx="10789920" cy="0"/>
          </a:xfrm>
          <a:prstGeom prst="line">
            <a:avLst/>
          </a:prstGeom>
          <a:noFill/>
          <a:ln w="12700">
            <a:solidFill>
              <a:srgbClr val="0E3460"/>
            </a:solidFill>
            <a:prstDash val="solid"/>
          </a:ln>
        </p:spPr>
      </p:sp>
      <p:sp>
        <p:nvSpPr>
          <p:cNvPr id="10" name="Text 8"/>
          <p:cNvSpPr txBox="1"/>
          <p:nvPr/>
        </p:nvSpPr>
        <p:spPr>
          <a:xfrm>
            <a:off x="640080" y="3145536"/>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Database</a:t>
            </a:r>
            <a:endParaRPr lang="en-US" sz="1400" dirty="0"/>
          </a:p>
        </p:txBody>
      </p:sp>
      <p:sp>
        <p:nvSpPr>
          <p:cNvPr id="11" name="Text 9"/>
          <p:cNvSpPr txBox="1"/>
          <p:nvPr/>
        </p:nvSpPr>
        <p:spPr>
          <a:xfrm>
            <a:off x="3657600" y="3145536"/>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SQLite</a:t>
            </a:r>
            <a:endParaRPr lang="en-US" sz="1400" dirty="0"/>
          </a:p>
        </p:txBody>
      </p:sp>
      <p:sp>
        <p:nvSpPr>
          <p:cNvPr id="12" name="Shape 10"/>
          <p:cNvSpPr/>
          <p:nvPr/>
        </p:nvSpPr>
        <p:spPr>
          <a:xfrm>
            <a:off x="640080" y="3785616"/>
            <a:ext cx="10789920" cy="0"/>
          </a:xfrm>
          <a:prstGeom prst="line">
            <a:avLst/>
          </a:prstGeom>
          <a:noFill/>
          <a:ln w="12700">
            <a:solidFill>
              <a:srgbClr val="0E3460"/>
            </a:solidFill>
            <a:prstDash val="solid"/>
          </a:ln>
        </p:spPr>
      </p:sp>
      <p:sp>
        <p:nvSpPr>
          <p:cNvPr id="13" name="Text 11"/>
          <p:cNvSpPr txBox="1"/>
          <p:nvPr/>
        </p:nvSpPr>
        <p:spPr>
          <a:xfrm>
            <a:off x="640080" y="3803904"/>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Auth</a:t>
            </a:r>
            <a:endParaRPr lang="en-US" sz="1400" dirty="0"/>
          </a:p>
        </p:txBody>
      </p:sp>
      <p:sp>
        <p:nvSpPr>
          <p:cNvPr id="14" name="Text 12"/>
          <p:cNvSpPr txBox="1"/>
          <p:nvPr/>
        </p:nvSpPr>
        <p:spPr>
          <a:xfrm>
            <a:off x="3657600" y="3803904"/>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Flask sessions, role-based access</a:t>
            </a:r>
            <a:endParaRPr lang="en-US" sz="1400" dirty="0"/>
          </a:p>
        </p:txBody>
      </p:sp>
      <p:sp>
        <p:nvSpPr>
          <p:cNvPr id="15" name="Shape 13"/>
          <p:cNvSpPr/>
          <p:nvPr/>
        </p:nvSpPr>
        <p:spPr>
          <a:xfrm>
            <a:off x="640080" y="4443984"/>
            <a:ext cx="10789920" cy="0"/>
          </a:xfrm>
          <a:prstGeom prst="line">
            <a:avLst/>
          </a:prstGeom>
          <a:noFill/>
          <a:ln w="12700">
            <a:solidFill>
              <a:srgbClr val="0E3460"/>
            </a:solidFill>
            <a:prstDash val="solid"/>
          </a:ln>
        </p:spPr>
      </p:sp>
      <p:sp>
        <p:nvSpPr>
          <p:cNvPr id="16" name="Text 14"/>
          <p:cNvSpPr txBox="1"/>
          <p:nvPr/>
        </p:nvSpPr>
        <p:spPr>
          <a:xfrm>
            <a:off x="640080" y="4462272"/>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IBM Technology</a:t>
            </a:r>
            <a:endParaRPr lang="en-US" sz="1400" dirty="0"/>
          </a:p>
        </p:txBody>
      </p:sp>
      <p:sp>
        <p:nvSpPr>
          <p:cNvPr id="17" name="Text 15"/>
          <p:cNvSpPr txBox="1"/>
          <p:nvPr/>
        </p:nvSpPr>
        <p:spPr>
          <a:xfrm>
            <a:off x="3657600" y="4462272"/>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IBM Bob — scaffolding, feature extension, and debugging</a:t>
            </a:r>
            <a:endParaRPr lang="en-US" sz="1400" dirty="0"/>
          </a:p>
        </p:txBody>
      </p:sp>
      <p:sp>
        <p:nvSpPr>
          <p:cNvPr id="18" name="Shape 16"/>
          <p:cNvSpPr/>
          <p:nvPr/>
        </p:nvSpPr>
        <p:spPr>
          <a:xfrm>
            <a:off x="640080" y="5102352"/>
            <a:ext cx="10789920" cy="0"/>
          </a:xfrm>
          <a:prstGeom prst="line">
            <a:avLst/>
          </a:prstGeom>
          <a:noFill/>
          <a:ln w="12700">
            <a:solidFill>
              <a:srgbClr val="0E3460"/>
            </a:solidFill>
            <a:prstDash val="solid"/>
          </a:ln>
        </p:spPr>
      </p:sp>
      <p:sp>
        <p:nvSpPr>
          <p:cNvPr id="19" name="Text 17"/>
          <p:cNvSpPr txBox="1"/>
          <p:nvPr/>
        </p:nvSpPr>
        <p:spPr>
          <a:xfrm>
            <a:off x="640080" y="5120640"/>
            <a:ext cx="2926080" cy="56692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Hosting</a:t>
            </a:r>
            <a:endParaRPr lang="en-US" sz="1400" dirty="0"/>
          </a:p>
        </p:txBody>
      </p:sp>
      <p:sp>
        <p:nvSpPr>
          <p:cNvPr id="20" name="Text 18"/>
          <p:cNvSpPr txBox="1"/>
          <p:nvPr/>
        </p:nvSpPr>
        <p:spPr>
          <a:xfrm>
            <a:off x="3657600" y="5120640"/>
            <a:ext cx="7772400" cy="566928"/>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PythonAnywhere (live deployment)</a:t>
            </a:r>
            <a:endParaRPr lang="en-US" sz="1400" dirty="0"/>
          </a:p>
        </p:txBody>
      </p:sp>
      <p:sp>
        <p:nvSpPr>
          <p:cNvPr id="21"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KNOWN LIMITATIONS</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What this prototype is — and isn't — yet</a:t>
            </a:r>
            <a:endParaRPr lang="en-US" sz="3200" dirty="0"/>
          </a:p>
        </p:txBody>
      </p:sp>
      <p:sp>
        <p:nvSpPr>
          <p:cNvPr id="4" name="Shape 2"/>
          <p:cNvSpPr/>
          <p:nvPr/>
        </p:nvSpPr>
        <p:spPr>
          <a:xfrm>
            <a:off x="640080" y="1920240"/>
            <a:ext cx="5257800" cy="1554480"/>
          </a:xfrm>
          <a:prstGeom prst="roundRect">
            <a:avLst>
              <a:gd name="adj" fmla="val 4706"/>
            </a:avLst>
          </a:prstGeom>
          <a:solidFill>
            <a:srgbClr val="FFF7ED"/>
          </a:solidFill>
          <a:ln w="12700">
            <a:solidFill>
              <a:srgbClr val="FED7AA"/>
            </a:solidFill>
            <a:prstDash val="solid"/>
          </a:ln>
        </p:spPr>
      </p:sp>
      <p:sp>
        <p:nvSpPr>
          <p:cNvPr id="5" name="Text 3"/>
          <p:cNvSpPr txBox="1"/>
          <p:nvPr/>
        </p:nvSpPr>
        <p:spPr>
          <a:xfrm>
            <a:off x="914400" y="2103120"/>
            <a:ext cx="4709160" cy="365760"/>
          </a:xfrm>
          <a:prstGeom prst="rect">
            <a:avLst/>
          </a:prstGeom>
          <a:noFill/>
          <a:ln/>
        </p:spPr>
        <p:txBody>
          <a:bodyPr wrap="square"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Simulated data</a:t>
            </a:r>
            <a:endParaRPr lang="en-US" sz="1500" dirty="0"/>
          </a:p>
        </p:txBody>
      </p:sp>
      <p:sp>
        <p:nvSpPr>
          <p:cNvPr id="6" name="Text 4"/>
          <p:cNvSpPr txBox="1"/>
          <p:nvPr/>
        </p:nvSpPr>
        <p:spPr>
          <a:xfrm>
            <a:off x="914400" y="2514600"/>
            <a:ext cx="4709160" cy="822960"/>
          </a:xfrm>
          <a:prstGeom prst="rect">
            <a:avLst/>
          </a:prstGeom>
          <a:noFill/>
          <a:ln/>
        </p:spPr>
        <p:txBody>
          <a:bodyPr wrap="square"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Runs on realistic sample data, not live pharmacy or hospital records.</a:t>
            </a:r>
            <a:endParaRPr lang="en-US" sz="1250" dirty="0"/>
          </a:p>
        </p:txBody>
      </p:sp>
      <p:sp>
        <p:nvSpPr>
          <p:cNvPr id="7" name="Shape 5"/>
          <p:cNvSpPr/>
          <p:nvPr/>
        </p:nvSpPr>
        <p:spPr>
          <a:xfrm>
            <a:off x="6263640" y="1920240"/>
            <a:ext cx="5257800" cy="1554480"/>
          </a:xfrm>
          <a:prstGeom prst="roundRect">
            <a:avLst>
              <a:gd name="adj" fmla="val 4706"/>
            </a:avLst>
          </a:prstGeom>
          <a:solidFill>
            <a:srgbClr val="FFF7ED"/>
          </a:solidFill>
          <a:ln w="12700">
            <a:solidFill>
              <a:srgbClr val="FED7AA"/>
            </a:solidFill>
            <a:prstDash val="solid"/>
          </a:ln>
        </p:spPr>
      </p:sp>
      <p:sp>
        <p:nvSpPr>
          <p:cNvPr id="8" name="Text 6"/>
          <p:cNvSpPr txBox="1"/>
          <p:nvPr/>
        </p:nvSpPr>
        <p:spPr>
          <a:xfrm>
            <a:off x="6537960" y="2103120"/>
            <a:ext cx="4709160" cy="365760"/>
          </a:xfrm>
          <a:prstGeom prst="rect">
            <a:avLst/>
          </a:prstGeom>
          <a:noFill/>
          <a:ln/>
        </p:spPr>
        <p:txBody>
          <a:bodyPr wrap="square"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Simulated notifications</a:t>
            </a:r>
            <a:endParaRPr lang="en-US" sz="1500" dirty="0"/>
          </a:p>
        </p:txBody>
      </p:sp>
      <p:sp>
        <p:nvSpPr>
          <p:cNvPr id="9" name="Text 7"/>
          <p:cNvSpPr txBox="1"/>
          <p:nvPr/>
        </p:nvSpPr>
        <p:spPr>
          <a:xfrm>
            <a:off x="6537960" y="2514600"/>
            <a:ext cx="4709160" cy="822960"/>
          </a:xfrm>
          <a:prstGeom prst="rect">
            <a:avLst/>
          </a:prstGeom>
          <a:noFill/>
          <a:ln/>
        </p:spPr>
        <p:txBody>
          <a:bodyPr wrap="square"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SMS/email alerts are logged in-app; not yet wired to a real messaging API.</a:t>
            </a:r>
            <a:endParaRPr lang="en-US" sz="1250" dirty="0"/>
          </a:p>
        </p:txBody>
      </p:sp>
      <p:sp>
        <p:nvSpPr>
          <p:cNvPr id="10" name="Shape 8"/>
          <p:cNvSpPr/>
          <p:nvPr/>
        </p:nvSpPr>
        <p:spPr>
          <a:xfrm>
            <a:off x="640080" y="3794760"/>
            <a:ext cx="5257800" cy="1554480"/>
          </a:xfrm>
          <a:prstGeom prst="roundRect">
            <a:avLst>
              <a:gd name="adj" fmla="val 4706"/>
            </a:avLst>
          </a:prstGeom>
          <a:solidFill>
            <a:srgbClr val="FFF7ED"/>
          </a:solidFill>
          <a:ln w="12700">
            <a:solidFill>
              <a:srgbClr val="FED7AA"/>
            </a:solidFill>
            <a:prstDash val="solid"/>
          </a:ln>
        </p:spPr>
      </p:sp>
      <p:sp>
        <p:nvSpPr>
          <p:cNvPr id="11" name="Text 9"/>
          <p:cNvSpPr txBox="1"/>
          <p:nvPr/>
        </p:nvSpPr>
        <p:spPr>
          <a:xfrm>
            <a:off x="914400" y="3977640"/>
            <a:ext cx="4709160" cy="365760"/>
          </a:xfrm>
          <a:prstGeom prst="rect">
            <a:avLst/>
          </a:prstGeom>
          <a:noFill/>
          <a:ln/>
        </p:spPr>
        <p:txBody>
          <a:bodyPr wrap="square"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Plaintext auth</a:t>
            </a:r>
            <a:endParaRPr lang="en-US" sz="1500" dirty="0"/>
          </a:p>
        </p:txBody>
      </p:sp>
      <p:sp>
        <p:nvSpPr>
          <p:cNvPr id="12" name="Text 10"/>
          <p:cNvSpPr txBox="1"/>
          <p:nvPr/>
        </p:nvSpPr>
        <p:spPr>
          <a:xfrm>
            <a:off x="914400" y="4389120"/>
            <a:ext cx="4709160" cy="822960"/>
          </a:xfrm>
          <a:prstGeom prst="rect">
            <a:avLst/>
          </a:prstGeom>
          <a:noFill/>
          <a:ln/>
        </p:spPr>
        <p:txBody>
          <a:bodyPr wrap="square"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Login is functional for demo purposes but not production-hardened.</a:t>
            </a:r>
            <a:endParaRPr lang="en-US" sz="1250" dirty="0"/>
          </a:p>
        </p:txBody>
      </p:sp>
      <p:sp>
        <p:nvSpPr>
          <p:cNvPr id="13" name="Shape 11"/>
          <p:cNvSpPr/>
          <p:nvPr/>
        </p:nvSpPr>
        <p:spPr>
          <a:xfrm>
            <a:off x="6263640" y="3794760"/>
            <a:ext cx="5257800" cy="1554480"/>
          </a:xfrm>
          <a:prstGeom prst="roundRect">
            <a:avLst>
              <a:gd name="adj" fmla="val 4706"/>
            </a:avLst>
          </a:prstGeom>
          <a:solidFill>
            <a:srgbClr val="FFF7ED"/>
          </a:solidFill>
          <a:ln w="12700">
            <a:solidFill>
              <a:srgbClr val="FED7AA"/>
            </a:solidFill>
            <a:prstDash val="solid"/>
          </a:ln>
        </p:spPr>
      </p:sp>
      <p:sp>
        <p:nvSpPr>
          <p:cNvPr id="14" name="Text 12"/>
          <p:cNvSpPr txBox="1"/>
          <p:nvPr/>
        </p:nvSpPr>
        <p:spPr>
          <a:xfrm>
            <a:off x="6537960" y="3977640"/>
            <a:ext cx="4709160" cy="365760"/>
          </a:xfrm>
          <a:prstGeom prst="rect">
            <a:avLst/>
          </a:prstGeom>
          <a:noFill/>
          <a:ln/>
        </p:spPr>
        <p:txBody>
          <a:bodyPr wrap="square"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Scoped medicine types</a:t>
            </a:r>
            <a:endParaRPr lang="en-US" sz="1500" dirty="0"/>
          </a:p>
        </p:txBody>
      </p:sp>
      <p:sp>
        <p:nvSpPr>
          <p:cNvPr id="15" name="Text 13"/>
          <p:cNvSpPr txBox="1"/>
          <p:nvPr/>
        </p:nvSpPr>
        <p:spPr>
          <a:xfrm>
            <a:off x="6537960" y="4389120"/>
            <a:ext cx="4709160" cy="822960"/>
          </a:xfrm>
          <a:prstGeom prst="rect">
            <a:avLst/>
          </a:prstGeom>
          <a:noFill/>
          <a:ln/>
        </p:spPr>
        <p:txBody>
          <a:bodyPr wrap="square"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Cold-chain and controlled substances are excluded from this version.</a:t>
            </a:r>
            <a:endParaRPr lang="en-US" sz="1250" dirty="0"/>
          </a:p>
        </p:txBody>
      </p:sp>
      <p:sp>
        <p:nvSpPr>
          <p:cNvPr id="16" name="Text 14"/>
          <p:cNvSpPr txBox="1"/>
          <p:nvPr/>
        </p:nvSpPr>
        <p:spPr>
          <a:xfrm>
            <a:off x="640080" y="5623560"/>
            <a:ext cx="10881360" cy="36576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Transparency over overclaiming — this is what a focused hackathon build honestly covers today.</a:t>
            </a:r>
            <a:endParaRPr lang="en-US" sz="1250" dirty="0"/>
          </a:p>
        </p:txBody>
      </p:sp>
      <p:sp>
        <p:nvSpPr>
          <p:cNvPr id="17" name="Text 1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IMPACT &amp; WHAT'S NEXT</a:t>
            </a:r>
            <a:endParaRPr lang="en-US" sz="1300" dirty="0"/>
          </a:p>
        </p:txBody>
      </p:sp>
      <p:sp>
        <p:nvSpPr>
          <p:cNvPr id="3" name="Text 1"/>
          <p:cNvSpPr txBox="1"/>
          <p:nvPr/>
        </p:nvSpPr>
        <p:spPr>
          <a:xfrm>
            <a:off x="548640" y="685800"/>
            <a:ext cx="10515600" cy="731520"/>
          </a:xfrm>
          <a:prstGeom prst="rect">
            <a:avLst/>
          </a:prstGeom>
          <a:noFill/>
          <a:ln/>
        </p:spPr>
        <p:txBody>
          <a:bodyPr wrap="square" rtlCol="0" anchor="ctr"/>
          <a:lstStyle/>
          <a:p>
            <a:pPr indent="0" marL="0">
              <a:buNone/>
            </a:pPr>
            <a:r>
              <a:rPr lang="en-US" sz="3200" b="1" dirty="0">
                <a:solidFill>
                  <a:srgbClr val="0A2540"/>
                </a:solidFill>
                <a:latin typeface="Cambria" pitchFamily="34" charset="0"/>
                <a:ea typeface="Cambria" pitchFamily="34" charset="-122"/>
                <a:cs typeface="Cambria" pitchFamily="34" charset="-120"/>
              </a:rPr>
              <a:t>From hackathon prototype to real healthcare infrastructure</a:t>
            </a:r>
            <a:endParaRPr lang="en-US" sz="3200" dirty="0"/>
          </a:p>
        </p:txBody>
      </p:sp>
      <p:sp>
        <p:nvSpPr>
          <p:cNvPr id="4" name="Shape 2"/>
          <p:cNvSpPr/>
          <p:nvPr/>
        </p:nvSpPr>
        <p:spPr>
          <a:xfrm>
            <a:off x="640080" y="1828800"/>
            <a:ext cx="502920" cy="502920"/>
          </a:xfrm>
          <a:prstGeom prst="roundRect">
            <a:avLst>
              <a:gd name="adj" fmla="val 90909"/>
            </a:avLst>
          </a:prstGeom>
          <a:solidFill>
            <a:srgbClr val="0D9488"/>
          </a:solidFill>
          <a:ln/>
        </p:spPr>
      </p:sp>
      <p:sp>
        <p:nvSpPr>
          <p:cNvPr id="5" name="Text 3"/>
          <p:cNvSpPr txBox="1"/>
          <p:nvPr/>
        </p:nvSpPr>
        <p:spPr>
          <a:xfrm>
            <a:off x="640080"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468880"/>
            <a:ext cx="3383280" cy="365760"/>
          </a:xfrm>
          <a:prstGeom prst="rect">
            <a:avLst/>
          </a:prstGeom>
          <a:noFill/>
          <a:ln/>
        </p:spPr>
        <p:txBody>
          <a:bodyPr wrap="square" rtlCol="0" anchor="ctr"/>
          <a:lstStyle/>
          <a:p>
            <a:pPr indent="0" marL="0">
              <a:buNone/>
            </a:pPr>
            <a:r>
              <a:rPr lang="en-US" sz="1800" b="1" dirty="0">
                <a:solidFill>
                  <a:srgbClr val="0A2540"/>
                </a:solidFill>
                <a:latin typeface="Cambria" pitchFamily="34" charset="0"/>
                <a:ea typeface="Cambria" pitchFamily="34" charset="-122"/>
                <a:cs typeface="Cambria" pitchFamily="34" charset="-120"/>
              </a:rPr>
              <a:t>Now</a:t>
            </a:r>
            <a:endParaRPr lang="en-US" sz="1800" dirty="0"/>
          </a:p>
        </p:txBody>
      </p:sp>
      <p:sp>
        <p:nvSpPr>
          <p:cNvPr id="7" name="Text 5"/>
          <p:cNvSpPr txBox="1"/>
          <p:nvPr/>
        </p:nvSpPr>
        <p:spPr>
          <a:xfrm>
            <a:off x="640080" y="2880360"/>
            <a:ext cx="3383280" cy="1371600"/>
          </a:xfrm>
          <a:prstGeom prst="rect">
            <a:avLst/>
          </a:prstGeom>
          <a:noFill/>
          <a:ln/>
        </p:spPr>
        <p:txBody>
          <a:bodyPr wrap="square"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Expiry prediction + AI matching within a single cooperative network, using IBM Bob.</a:t>
            </a:r>
            <a:endParaRPr lang="en-US" sz="1300" dirty="0"/>
          </a:p>
        </p:txBody>
      </p:sp>
      <p:sp>
        <p:nvSpPr>
          <p:cNvPr id="8" name="Shape 6"/>
          <p:cNvSpPr/>
          <p:nvPr/>
        </p:nvSpPr>
        <p:spPr>
          <a:xfrm>
            <a:off x="4343400" y="1828800"/>
            <a:ext cx="502920" cy="502920"/>
          </a:xfrm>
          <a:prstGeom prst="roundRect">
            <a:avLst>
              <a:gd name="adj" fmla="val 90909"/>
            </a:avLst>
          </a:prstGeom>
          <a:solidFill>
            <a:srgbClr val="0D9488"/>
          </a:solidFill>
          <a:ln/>
        </p:spPr>
      </p:sp>
      <p:sp>
        <p:nvSpPr>
          <p:cNvPr id="9" name="Text 7"/>
          <p:cNvSpPr txBox="1"/>
          <p:nvPr/>
        </p:nvSpPr>
        <p:spPr>
          <a:xfrm>
            <a:off x="4343400"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4343400" y="2468880"/>
            <a:ext cx="3383280" cy="365760"/>
          </a:xfrm>
          <a:prstGeom prst="rect">
            <a:avLst/>
          </a:prstGeom>
          <a:noFill/>
          <a:ln/>
        </p:spPr>
        <p:txBody>
          <a:bodyPr wrap="square" rtlCol="0" anchor="ctr"/>
          <a:lstStyle/>
          <a:p>
            <a:pPr indent="0" marL="0">
              <a:buNone/>
            </a:pPr>
            <a:r>
              <a:rPr lang="en-US" sz="1800" b="1" dirty="0">
                <a:solidFill>
                  <a:srgbClr val="0A2540"/>
                </a:solidFill>
                <a:latin typeface="Cambria" pitchFamily="34" charset="0"/>
                <a:ea typeface="Cambria" pitchFamily="34" charset="-122"/>
                <a:cs typeface="Cambria" pitchFamily="34" charset="-120"/>
              </a:rPr>
              <a:t>Next</a:t>
            </a:r>
            <a:endParaRPr lang="en-US" sz="1800" dirty="0"/>
          </a:p>
        </p:txBody>
      </p:sp>
      <p:sp>
        <p:nvSpPr>
          <p:cNvPr id="11" name="Text 9"/>
          <p:cNvSpPr txBox="1"/>
          <p:nvPr/>
        </p:nvSpPr>
        <p:spPr>
          <a:xfrm>
            <a:off x="4343400" y="2880360"/>
            <a:ext cx="3383280" cy="1371600"/>
          </a:xfrm>
          <a:prstGeom prst="rect">
            <a:avLst/>
          </a:prstGeom>
          <a:noFill/>
          <a:ln/>
        </p:spPr>
        <p:txBody>
          <a:bodyPr wrap="square"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Real messaging integration (SMS/email), plus live pharmacy inventory connections.</a:t>
            </a:r>
            <a:endParaRPr lang="en-US" sz="1300" dirty="0"/>
          </a:p>
        </p:txBody>
      </p:sp>
      <p:sp>
        <p:nvSpPr>
          <p:cNvPr id="12" name="Shape 10"/>
          <p:cNvSpPr/>
          <p:nvPr/>
        </p:nvSpPr>
        <p:spPr>
          <a:xfrm>
            <a:off x="8046720" y="1828800"/>
            <a:ext cx="502920" cy="502920"/>
          </a:xfrm>
          <a:prstGeom prst="roundRect">
            <a:avLst>
              <a:gd name="adj" fmla="val 90909"/>
            </a:avLst>
          </a:prstGeom>
          <a:solidFill>
            <a:srgbClr val="0D9488"/>
          </a:solidFill>
          <a:ln/>
        </p:spPr>
      </p:sp>
      <p:sp>
        <p:nvSpPr>
          <p:cNvPr id="13" name="Text 11"/>
          <p:cNvSpPr txBox="1"/>
          <p:nvPr/>
        </p:nvSpPr>
        <p:spPr>
          <a:xfrm>
            <a:off x="8046720" y="18288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8046720" y="2468880"/>
            <a:ext cx="3383280" cy="365760"/>
          </a:xfrm>
          <a:prstGeom prst="rect">
            <a:avLst/>
          </a:prstGeom>
          <a:noFill/>
          <a:ln/>
        </p:spPr>
        <p:txBody>
          <a:bodyPr wrap="square" rtlCol="0" anchor="ctr"/>
          <a:lstStyle/>
          <a:p>
            <a:pPr indent="0" marL="0">
              <a:buNone/>
            </a:pPr>
            <a:r>
              <a:rPr lang="en-US" sz="1800" b="1" dirty="0">
                <a:solidFill>
                  <a:srgbClr val="0A2540"/>
                </a:solidFill>
                <a:latin typeface="Cambria" pitchFamily="34" charset="0"/>
                <a:ea typeface="Cambria" pitchFamily="34" charset="-122"/>
                <a:cs typeface="Cambria" pitchFamily="34" charset="-120"/>
              </a:rPr>
              <a:t>Later</a:t>
            </a:r>
            <a:endParaRPr lang="en-US" sz="1800" dirty="0"/>
          </a:p>
        </p:txBody>
      </p:sp>
      <p:sp>
        <p:nvSpPr>
          <p:cNvPr id="15" name="Text 13"/>
          <p:cNvSpPr txBox="1"/>
          <p:nvPr/>
        </p:nvSpPr>
        <p:spPr>
          <a:xfrm>
            <a:off x="8046720" y="2880360"/>
            <a:ext cx="3383280" cy="1371600"/>
          </a:xfrm>
          <a:prstGeom prst="rect">
            <a:avLst/>
          </a:prstGeom>
          <a:noFill/>
          <a:ln/>
        </p:spPr>
        <p:txBody>
          <a:bodyPr wrap="square"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Multi-region redistribution, watsonx.ai-powered demand forecasting, regulatory compliance layer.</a:t>
            </a:r>
            <a:endParaRPr lang="en-US" sz="1300" dirty="0"/>
          </a:p>
        </p:txBody>
      </p:sp>
      <p:sp>
        <p:nvSpPr>
          <p:cNvPr id="16" name="Shape 14"/>
          <p:cNvSpPr/>
          <p:nvPr/>
        </p:nvSpPr>
        <p:spPr>
          <a:xfrm>
            <a:off x="640080" y="4663440"/>
            <a:ext cx="10881360" cy="0"/>
          </a:xfrm>
          <a:prstGeom prst="line">
            <a:avLst/>
          </a:prstGeom>
          <a:noFill/>
          <a:ln w="12700">
            <a:solidFill>
              <a:srgbClr val="E2E8F0"/>
            </a:solidFill>
            <a:prstDash val="solid"/>
          </a:ln>
        </p:spPr>
      </p:sp>
      <p:sp>
        <p:nvSpPr>
          <p:cNvPr id="17" name="Text 15"/>
          <p:cNvSpPr txBox="1"/>
          <p:nvPr/>
        </p:nvSpPr>
        <p:spPr>
          <a:xfrm>
            <a:off x="640080" y="4892040"/>
            <a:ext cx="10881360" cy="731520"/>
          </a:xfrm>
          <a:prstGeom prst="rect">
            <a:avLst/>
          </a:prstGeom>
          <a:noFill/>
          <a:ln/>
        </p:spPr>
        <p:txBody>
          <a:bodyPr wrap="square" rtlCol="0" anchor="ctr"/>
          <a:lstStyle/>
          <a:p>
            <a:pPr indent="0" marL="0">
              <a:lnSpc>
                <a:spcPct val="130000"/>
              </a:lnSpc>
              <a:buNone/>
            </a:pPr>
            <a:r>
              <a:rPr lang="en-US" sz="1500" b="1" dirty="0">
                <a:solidFill>
                  <a:srgbClr val="0A2540"/>
                </a:solidFill>
                <a:latin typeface="Calibri" pitchFamily="34" charset="0"/>
                <a:ea typeface="Calibri" pitchFamily="34" charset="-122"/>
                <a:cs typeface="Calibri" pitchFamily="34" charset="-120"/>
              </a:rPr>
              <a:t>The core insight: </a:t>
            </a:r>
            <a:pPr indent="0" marL="0">
              <a:lnSpc>
                <a:spcPct val="130000"/>
              </a:lnSpc>
              <a:buNone/>
            </a:pPr>
            <a:r>
              <a:rPr lang="en-US" sz="1500" dirty="0">
                <a:solidFill>
                  <a:srgbClr val="1E293B"/>
                </a:solidFill>
                <a:latin typeface="Calibri" pitchFamily="34" charset="0"/>
                <a:ea typeface="Calibri" pitchFamily="34" charset="-122"/>
                <a:cs typeface="Calibri" pitchFamily="34" charset="-120"/>
              </a:rPr>
              <a:t>waste and shortage are usually the same event, seen from two sides. Solve the visibility gap, and you solve both at once.</a:t>
            </a:r>
            <a:endParaRPr lang="en-US" sz="1500" dirty="0"/>
          </a:p>
        </p:txBody>
      </p:sp>
      <p:sp>
        <p:nvSpPr>
          <p:cNvPr id="18"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E3460"/>
          </a:solidFill>
          <a:ln/>
        </p:spPr>
      </p:sp>
      <p:sp>
        <p:nvSpPr>
          <p:cNvPr id="3" name="Shape 1"/>
          <p:cNvSpPr/>
          <p:nvPr/>
        </p:nvSpPr>
        <p:spPr>
          <a:xfrm>
            <a:off x="9875520" y="4114800"/>
            <a:ext cx="4114800" cy="4114800"/>
          </a:xfrm>
          <a:prstGeom prst="ellipse">
            <a:avLst/>
          </a:prstGeom>
          <a:solidFill>
            <a:srgbClr val="0E3460"/>
          </a:solidFill>
          <a:ln/>
        </p:spPr>
      </p:sp>
      <p:sp>
        <p:nvSpPr>
          <p:cNvPr id="4" name="Text 2"/>
          <p:cNvSpPr txBox="1"/>
          <p:nvPr/>
        </p:nvSpPr>
        <p:spPr>
          <a:xfrm>
            <a:off x="5166360" y="1554480"/>
            <a:ext cx="1097280" cy="1097280"/>
          </a:xfrm>
          <a:prstGeom prst="rect">
            <a:avLst/>
          </a:prstGeom>
          <a:noFill/>
          <a:ln/>
        </p:spPr>
        <p:txBody>
          <a:bodyPr wrap="square" rtlCol="0" anchor="ctr"/>
          <a:lstStyle/>
          <a:p>
            <a:pPr algn="ctr" indent="0" marL="0">
              <a:buNone/>
            </a:pPr>
            <a:r>
              <a:rPr lang="en-US" sz="4600" dirty="0">
                <a:solidFill>
                  <a:srgbClr val="14B8A6"/>
                </a:solidFill>
              </a:rPr>
              <a:t>⚕</a:t>
            </a:r>
            <a:endParaRPr lang="en-US" sz="4600" dirty="0"/>
          </a:p>
        </p:txBody>
      </p:sp>
      <p:sp>
        <p:nvSpPr>
          <p:cNvPr id="5" name="Text 3"/>
          <p:cNvSpPr txBox="1"/>
          <p:nvPr/>
        </p:nvSpPr>
        <p:spPr>
          <a:xfrm>
            <a:off x="0" y="2606040"/>
            <a:ext cx="1216152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4"/>
          <p:cNvSpPr txBox="1"/>
          <p:nvPr/>
        </p:nvSpPr>
        <p:spPr>
          <a:xfrm>
            <a:off x="0" y="3429000"/>
            <a:ext cx="12161520" cy="457200"/>
          </a:xfrm>
          <a:prstGeom prst="rect">
            <a:avLst/>
          </a:prstGeom>
          <a:noFill/>
          <a:ln/>
        </p:spPr>
        <p:txBody>
          <a:bodyPr wrap="square" rtlCol="0" anchor="ctr"/>
          <a:lstStyle/>
          <a:p>
            <a:pPr algn="ctr" indent="0" marL="0">
              <a:buNone/>
            </a:pPr>
            <a:r>
              <a:rPr lang="en-US" sz="1600" i="1" dirty="0">
                <a:solidFill>
                  <a:srgbClr val="14B8A6"/>
                </a:solidFill>
                <a:latin typeface="Calibri" pitchFamily="34" charset="0"/>
                <a:ea typeface="Calibri" pitchFamily="34" charset="-122"/>
                <a:cs typeface="Calibri" pitchFamily="34" charset="-120"/>
              </a:rPr>
              <a:t>MedRescue AI — Reducing medicine waste, saving lives.</a:t>
            </a:r>
            <a:endParaRPr lang="en-US" sz="1600" dirty="0"/>
          </a:p>
        </p:txBody>
      </p:sp>
      <p:sp>
        <p:nvSpPr>
          <p:cNvPr id="7" name="Text 5"/>
          <p:cNvSpPr txBox="1"/>
          <p:nvPr/>
        </p:nvSpPr>
        <p:spPr>
          <a:xfrm>
            <a:off x="0" y="4480560"/>
            <a:ext cx="12161520" cy="36576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Live demo: shakshi17.pythonanywhere.com</a:t>
            </a:r>
            <a:endParaRPr lang="en-US" sz="1300" dirty="0"/>
          </a:p>
        </p:txBody>
      </p:sp>
      <p:sp>
        <p:nvSpPr>
          <p:cNvPr id="8" name="Text 6"/>
          <p:cNvSpPr txBox="1"/>
          <p:nvPr/>
        </p:nvSpPr>
        <p:spPr>
          <a:xfrm>
            <a:off x="0" y="4846320"/>
            <a:ext cx="1216152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Team MedRescue — Sakshi Parmar  •  Rajvi Khunt  •  Ayushi Raval  •  Hir Ramani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2026-09-14T09:15:37Z</dcterms:created>
  <dcterms:modified xsi:type="dcterms:W3CDTF">2026-09-14T09:15:37Z</dcterms:modified>
</cp:coreProperties>
</file>